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Q: What total expenditure is required to achieve the $3.5 B private return? A: about $1.74 B in delivered basalt cost, summed over the 4.31 Mha private-sufficient envelope (equilibrium maintenance cycle, targeted allocation). So the $3.5 B is gross yield value; net of the $1.74 B ERW cost the private gross margin is about $1.75 B - a benefit-cost ratio of roughly 2:1, before any carbon revenue. Delivered cost here is quarry + grinding + transport + spreading (no MRV, since this is the yield-only case). Source: envelope table, targeted Private row - Area 4.31 Mha, Private $3,496 M, Cost $1,743 M, net-export CDR 7.1 Mt.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57800"/>
            <a:ext cx="12188952" cy="54864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ANTE ANALYSIS · FULL WALKTHROUGH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public and private returns to</a:t>
            </a:r>
            <a:endParaRPr lang="en-US" sz="3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Rock Weathering in Sub-Saharan Africa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Bisrat Haile Gebrekidan</a:t>
            </a:r>
            <a:pPr indent="0" marL="0">
              <a:buNone/>
            </a:pPr>
            <a:r>
              <a:rPr lang="en-US" sz="1500" dirty="0">
                <a:solidFill>
                  <a:srgbClr val="9F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(CIMMYT-Ethiopia)   ·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Chamberlin</a:t>
            </a:r>
            <a:pPr indent="0" marL="0">
              <a:buNone/>
            </a:pPr>
            <a:r>
              <a:rPr lang="en-US" sz="1500" dirty="0">
                <a:solidFill>
                  <a:srgbClr val="9F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(CIMMYT-Kenya)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spatially explicit, decomposed profitability model — 44 SSA countries · 23 crops · per-pixel grid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draft for Agricultural Economics — coauthor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ERW pays the farmer twice</a:t>
            </a:r>
            <a:endParaRPr lang="en-US" sz="2900" dirty="0"/>
          </a:p>
        </p:txBody>
      </p:sp>
      <p:pic>
        <p:nvPicPr>
          <p:cNvPr id="4" name="Image 0" descr="img/revised_schematic_retur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17320"/>
            <a:ext cx="566928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630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finely ground basalt on cropland couples two value streams that are usually separate: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4231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1F7F1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560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 —  agronomic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Alkalinity neutralizes soil acidity like agricultural lime, raising yields. Accrues to the farmer.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37947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3931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C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—  carbon (CDR)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Weathering durably removes atmospheric CO₂, monetizable through voluntary carbon markets (VCM).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212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 where does each return justify deployment — and where does neither suffice alone, yet together they do?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research questions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10512"/>
            <a:ext cx="822960" cy="822960"/>
          </a:xfrm>
          <a:prstGeom prst="ellipse">
            <a:avLst/>
          </a:prstGeom>
          <a:solidFill>
            <a:srgbClr val="1423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10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173736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private (yield) return alone justify ERW investment?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810512"/>
            <a:ext cx="822960" cy="822960"/>
          </a:xfrm>
          <a:prstGeom prst="ellipse">
            <a:avLst/>
          </a:prstGeom>
          <a:solidFill>
            <a:srgbClr val="14232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810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452360" y="173736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public (carbon) return alone justify it?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364992"/>
            <a:ext cx="822960" cy="822960"/>
          </a:xfrm>
          <a:prstGeom prst="ellipse">
            <a:avLst/>
          </a:prstGeom>
          <a:solidFill>
            <a:srgbClr val="14232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64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37360" y="32918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the two coincide — the intersection?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310896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364992"/>
            <a:ext cx="822960" cy="822960"/>
          </a:xfrm>
          <a:prstGeom prst="ellipse">
            <a:avLst/>
          </a:prstGeom>
          <a:solidFill>
            <a:srgbClr val="14232B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364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452360" y="32918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neither stream alone suffice, but the combined margin is positive?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919472"/>
            <a:ext cx="822960" cy="822960"/>
          </a:xfrm>
          <a:prstGeom prst="ellipse">
            <a:avLst/>
          </a:prstGeom>
          <a:solidFill>
            <a:srgbClr val="14232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9194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737360" y="484632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robust is the deployable geography to parameter assumptions?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17920" y="466344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919472"/>
            <a:ext cx="822960" cy="822960"/>
          </a:xfrm>
          <a:prstGeom prst="ellipse">
            <a:avLst/>
          </a:prstGeom>
          <a:solidFill>
            <a:srgbClr val="14232B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9194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452360" y="484632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shift the public (carbon) envelope outward?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decomposed per-pixel gross margin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14232B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727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pPr indent="0" marL="0">
              <a:buNone/>
            </a:pPr>
            <a:r>
              <a:rPr lang="en-US" sz="2200" dirty="0">
                <a:solidFill>
                  <a:srgbClr val="9F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indent="0" marL="0">
              <a:buNone/>
            </a:pPr>
            <a:r>
              <a:rPr lang="en-US" sz="2600" b="1" dirty="0">
                <a:solidFill>
                  <a:srgbClr val="7FC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buNone/>
            </a:pPr>
            <a:r>
              <a:rPr lang="en-US" sz="1300" dirty="0">
                <a:solidFill>
                  <a:srgbClr val="7FC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</a:t>
            </a:r>
            <a:pPr indent="0" marL="0">
              <a:buNone/>
            </a:pPr>
            <a:r>
              <a:rPr lang="en-US" sz="2200" dirty="0">
                <a:solidFill>
                  <a:srgbClr val="9F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 </a:t>
            </a:r>
            <a:pPr indent="0" marL="0">
              <a:buNone/>
            </a:pPr>
            <a:r>
              <a:rPr lang="en-US" sz="2600" b="1" dirty="0">
                <a:solidFill>
                  <a:srgbClr val="7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buNone/>
            </a:pPr>
            <a:r>
              <a:rPr lang="en-US" sz="1300" dirty="0">
                <a:solidFill>
                  <a:srgbClr val="7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</a:t>
            </a:r>
            <a:pPr indent="0" marL="0">
              <a:buNone/>
            </a:pPr>
            <a:r>
              <a:rPr lang="en-US" sz="2200" dirty="0">
                <a:solidFill>
                  <a:srgbClr val="9F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−   </a:t>
            </a:r>
            <a:pPr indent="0" marL="0">
              <a:buNone/>
            </a:pPr>
            <a:r>
              <a:rPr lang="en-US" sz="2600" b="1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per-hectare gross margin  =  private agronomic return  +  public carbon return  −  full delivered cost</a:t>
            </a:r>
            <a:endParaRPr lang="en-US" sz="1300" dirty="0"/>
          </a:p>
        </p:txBody>
      </p:sp>
      <p:pic>
        <p:nvPicPr>
          <p:cNvPr id="7" name="Image 0" descr="img/erw_model_architecture_three_stream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2880360"/>
            <a:ext cx="576072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990088"/>
            <a:ext cx="128016" cy="128016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880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~0.083° grid × 44 SSA countries × 23 SPAM crops, area-weighted to each pixel.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794760"/>
            <a:ext cx="128016" cy="128016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68503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streams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Agronomic yield uplift, durable CDR credit, and a fully decomposed delivered cost.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599432"/>
            <a:ext cx="128016" cy="128016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48970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object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is classified by which stream(s) make the margin positive — not a single supply curve.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5404104"/>
            <a:ext cx="128016" cy="128016"/>
          </a:xfrm>
          <a:prstGeom prst="rect">
            <a:avLst/>
          </a:prstGeom>
          <a:solidFill>
            <a:srgbClr val="0F6E63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29437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at year-1, NPV @ 10%, and equilibrium steady state (headline).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data layers behind every pixel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7556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2011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SoilGrids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" y="2423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ECEC, texture on cropland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15544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35424" y="17556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35424" y="2011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SPAM v2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35424" y="2423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crop distributions &amp; production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55864" y="15544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11896" y="17556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11896" y="2011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EcoCrop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11896" y="2423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pH-suitability response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090672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FEEDSTOCK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" y="35478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8952" y="39593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basalt source geology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3090672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35424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35424" y="35478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friction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35424" y="39593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travel-time delivered-cost surface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55864" y="3090672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11896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11896" y="35478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WorldClim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11896" y="39593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moisture for weathering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626864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8952" y="4828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8952" y="508406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FAOSTAT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58952" y="549554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 producer-price medians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79392" y="4626864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35424" y="4828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REQ.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35424" y="508406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LiTAS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535424" y="549554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lime-equivalent dose (targeting)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55864" y="4626864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11896" y="4828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11896" y="508406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Merlos / Kamprath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311896" y="549554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acidity sink for net-export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assumption sets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modeling choices govern every result: delivered cost, carbon price, net-export CDR accounting, an over-liming private penalty, and kinetic weathering saturation.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1 · DELIVERED 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is dominated by transport — a real lever</a:t>
            </a:r>
            <a:endParaRPr lang="en-US" sz="2900" dirty="0"/>
          </a:p>
        </p:txBody>
      </p:sp>
      <p:pic>
        <p:nvPicPr>
          <p:cNvPr id="4" name="Image 0" descr="img/delivered_cost_saving_solar2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508760"/>
            <a:ext cx="539496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600200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" y="169164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Decomposed cost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Grinding + feedstock + freight + spreading + MRV, built up per pixel from the friction surface.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660904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3232" y="2752344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binds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cost rises steeply with travel time; remote acid soils are priced out even where agronomy is strong.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3721608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3232" y="3813048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solar lever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Electrified / solar-assisted haulage cuts variable transport cost; a ~25–40% reduction visibly expands the viable frontier.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4782312"/>
            <a:ext cx="5623560" cy="960120"/>
          </a:xfrm>
          <a:prstGeom prst="roundRect">
            <a:avLst>
              <a:gd name="adj" fmla="val 7619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3232" y="487375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per-tonne monitoring cost m is netted from the carbon price (see Assumption 2).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1 · DELIVERED 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basalt cost, decomposed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72768"/>
          <a:ext cx="1118311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3429000"/>
                <a:gridCol w="1170432"/>
                <a:gridCol w="40690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t basalt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/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Quarry-gate feedstock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 / 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basalt fines (aggregate by-product)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Grinding (50 µm)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 kWh/t × local tariff  (≈$1.9/t)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Strefler et al. 2018 energy curve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(haulage)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travel-time × $0.04/min/t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t truck over MAP friction surface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 / 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on-farm application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 cost / 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quarry + grinding + transport + spreading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sum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delivered $/t consumed per pixel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6B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MRV (netted separately)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 / tCO₂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tCO₂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netted from carbon price; Levy et al. 2024 pilot $30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521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grinding cost varies with the country electricity tariff. 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is the only spatially varying term — it drives where ERW is deployable. Life-cycle CO₂ of grinding, transport, and spreading is separately deducted from gross removal.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2 · CARBON PRICE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carbon return uses a net VCM price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indent="0" marL="0">
              <a:buNone/>
            </a:pPr>
            <a:r>
              <a:rPr lang="en-US" sz="1200" dirty="0">
                <a:solidFill>
                  <a:srgbClr val="1C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</a:t>
            </a:r>
            <a:pPr indent="0" marL="0">
              <a:buNone/>
            </a:pPr>
            <a:r>
              <a:rPr lang="en-US" sz="19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durable CDR  ×  ( p − m 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VCM carbon price ($/tCO₂)    ·    m = per-tonne MRV cost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today’s price is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$150/tCO₂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we sweep a full price ladder — price is one of the three levers that move the public envelope (Results).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envelope grows with price  (equilibrium, targeted)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0312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28016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$/tCO₂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B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Mha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B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treated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B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Durable CDR (Mt)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B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0" y="5074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$150 the durable public envelope is 1.65 Mha (9.4% of treated cropland); it only becomes large at prices well above today’s.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3 · NET-EXPORT CDR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only carbon that is durably exported</a:t>
            </a:r>
            <a:endParaRPr lang="en-US" sz="2900" dirty="0"/>
          </a:p>
        </p:txBody>
      </p:sp>
      <p:pic>
        <p:nvPicPr>
          <p:cNvPr id="4" name="Image 0" descr="img/netexport_cdr_gradient_np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566160"/>
            <a:ext cx="6949440" cy="2651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63040"/>
            <a:ext cx="6949440" cy="1965960"/>
          </a:xfrm>
          <a:prstGeom prst="roundRect">
            <a:avLst>
              <a:gd name="adj" fmla="val 3721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60020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CDR  =  max( gross CDR  −  F · S ,  0 )
</a:t>
            </a:r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0.88 tCO₂ per tCaCO₂-eq    ·    S = acidity sink (standing / maintenance)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5146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Alkalinity spent neutralizing soil acidity re-releases its CO₂ — exactly as agricultural lime does — so it must be deducted. A first-order sequential bound.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80960" y="1463040"/>
            <a:ext cx="4023360" cy="4754880"/>
          </a:xfrm>
          <a:prstGeom prst="roundRect">
            <a:avLst>
              <a:gd name="adj" fmla="val 1818"/>
            </a:avLst>
          </a:prstGeom>
          <a:solidFill>
            <a:srgbClr val="14232B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0956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09560" y="2148840"/>
            <a:ext cx="3566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80%
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credited removal is cut at first application once acidity neutralization is netted out.
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removal is largely a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phenomenon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 is why the headline uses the equilibrium regime.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4 · OVER-LIMING PENALTY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much alkalinity can depress yield</a:t>
            </a:r>
            <a:endParaRPr lang="en-US" sz="2900" dirty="0"/>
          </a:p>
        </p:txBody>
      </p:sp>
      <p:pic>
        <p:nvPicPr>
          <p:cNvPr id="4" name="Image 0" descr="img/overliming_sensi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600200"/>
            <a:ext cx="566928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60020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" y="1691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lime requirement, pH is pushed past the crop optimum; the EcoCrop response applies a yield haircut at the post-application pH.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770632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3232" y="286207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 shift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change is damped by soil buffering (β = kβ·ECEC); reacted alkalinity A = gross CDR / F.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94106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3232" y="403250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on high uniform doses. Central estimate trims the targeted private return only modestly (4.31 → 4.02 Mha, −7%).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5111496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3232" y="520293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low–high band over (kβ, realized-alkalinity) is carried — the uniform-50 case is where it bites hardest.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5 · KINETIC SATURATION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Weathering reacts less-than-linearly with dose</a:t>
            </a:r>
            <a:endParaRPr lang="en-US" sz="2900" dirty="0"/>
          </a:p>
        </p:txBody>
      </p:sp>
      <p:pic>
        <p:nvPicPr>
          <p:cNvPr id="4" name="Image 0" descr="img/kinetic_satur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657600"/>
            <a:ext cx="1115568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6304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" y="1600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sat(D)  =  ( K</a:t>
            </a:r>
            <a:pPr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+ 50 ) / ( K</a:t>
            </a:r>
            <a:pPr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D 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13232" y="214884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reacted tonnage saturates in applied dose D, normalized to the Lewis (2021) 50 t/ha reference (sat = 1 there). Reported as a band over Kd.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463040"/>
            <a:ext cx="5532120" cy="2011680"/>
          </a:xfrm>
          <a:prstGeom prst="roundRect">
            <a:avLst>
              <a:gd name="adj" fmla="val 3636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82512" y="15727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82512" y="19202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makes CDR concave in dose (giving an interior optimum), but it does not drive the public envelope to zero. Below the 50 t/ha reference, per-tonne reactivity is higher — so at targeted doses durable CDR actually rises. What binds the carbon case is MAC &gt; price, not kinetics.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regimes × allocation rules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axes are swept alongside the assumption sets; the headline is equilibrium × targeted, net-export.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REGIMES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441448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dose &amp; cost; durable CDR net of standing acidity. Most conservative on carbon.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392424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350215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@ 10%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stream of relief and durable removal.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4453128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E7F0EE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456285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durable removal — the headline regime.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RULES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3317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E7F0EE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246888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
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LiTAS lime-equivalent dose — agronomically matched. Headline.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402336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8232" y="416052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10 / 20 / 50 t/ha
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rates — trace how CDR and over-liming scale with dose.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Envelopes and the combined-only band · durable carbon and marginal abatement cost · what shifts the public frontier · optimal rates · the robust core geography.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TYPOLOGY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five-way pixel classification</a:t>
            </a:r>
            <a:endParaRPr lang="en-US" sz="2900" dirty="0"/>
          </a:p>
        </p:txBody>
      </p:sp>
      <p:pic>
        <p:nvPicPr>
          <p:cNvPr id="4" name="Image 0" descr="img/env_typology_targeted_eqn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371600"/>
            <a:ext cx="502920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554480"/>
            <a:ext cx="5943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810512"/>
            <a:ext cx="329184" cy="3291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155448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Private-sufficient   </a:t>
            </a:r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R_agro − C &gt; 0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487168"/>
            <a:ext cx="5943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2743200"/>
            <a:ext cx="329184" cy="329184"/>
          </a:xfrm>
          <a:prstGeom prst="ellipse">
            <a:avLst/>
          </a:prstGeom>
          <a:solidFill>
            <a:srgbClr val="1C6BA0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48716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Public-sufficient   </a:t>
            </a:r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R_CDR − C &gt; 0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02920" y="3419856"/>
            <a:ext cx="5943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" y="3675888"/>
            <a:ext cx="329184" cy="329184"/>
          </a:xfrm>
          <a:prstGeom prst="ellipse">
            <a:avLst/>
          </a:prstGeom>
          <a:solidFill>
            <a:srgbClr val="0F6E63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341985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  </a:t>
            </a:r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hold at the same pixel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02920" y="4352544"/>
            <a:ext cx="5943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5800" y="4608576"/>
            <a:ext cx="329184" cy="329184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16" name="Text 13"/>
          <p:cNvSpPr/>
          <p:nvPr/>
        </p:nvSpPr>
        <p:spPr>
          <a:xfrm>
            <a:off x="1188720" y="4352544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Combined-only   </a:t>
            </a:r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alone, but GM &gt; 0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02920" y="5285232"/>
            <a:ext cx="5943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85800" y="5541264"/>
            <a:ext cx="329184" cy="329184"/>
          </a:xfrm>
          <a:prstGeom prst="ellipse">
            <a:avLst/>
          </a:prstGeom>
          <a:solidFill>
            <a:srgbClr val="8794A0"/>
          </a:solidFill>
          <a:ln/>
        </p:spPr>
      </p:sp>
      <p:sp>
        <p:nvSpPr>
          <p:cNvPr id="19" name="Text 16"/>
          <p:cNvSpPr/>
          <p:nvPr/>
        </p:nvSpPr>
        <p:spPr>
          <a:xfrm>
            <a:off x="1188720" y="5285232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  </a:t>
            </a:r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≤ 0 — not deployable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PRIVATE ENVELOPE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yield alone pays</a:t>
            </a:r>
            <a:endParaRPr lang="en-US" sz="2900" dirty="0"/>
          </a:p>
        </p:txBody>
      </p:sp>
      <p:pic>
        <p:nvPicPr>
          <p:cNvPr id="4" name="Image 0" descr="img/env_private_targeted_eqn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371600"/>
            <a:ext cx="502920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5087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where the agronomic return covers the full delivered cost with no carbon credit at all.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3774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1F7F1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2560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Mha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59436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private-sufficient area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20440" y="23774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1F7F1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11880" y="2560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$3.5 B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361188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return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4069080"/>
            <a:ext cx="5806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single envelope under the targeted dose.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is a minority of acid cropland — most viable land needs more than yield to pencil.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PUBLIC ENVELOPE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carbon alone pays (durably)</a:t>
            </a:r>
            <a:endParaRPr lang="en-US" sz="2900" dirty="0"/>
          </a:p>
        </p:txBody>
      </p:sp>
      <p:pic>
        <p:nvPicPr>
          <p:cNvPr id="4" name="Image 0" descr="img/env_public_targeted_eqn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371600"/>
            <a:ext cx="502920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5087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where durable, net-export CDR at $150/tCO₂ covers cost with no yield benefit.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3774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2560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C6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 Mha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59436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public area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20440" y="23774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11880" y="2560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C6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9.4%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361188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treated cropland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4069080"/>
            <a:ext cx="5806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than the private envelope, and price-conditional.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Net-export accounting and today’s VCM price keep the carbon-only case tightly bound — the reason the combined case matters.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THE CENTRAL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combined-only band is the policy object</a:t>
            </a:r>
            <a:endParaRPr lang="en-US" sz="2900" dirty="0"/>
          </a:p>
        </p:txBody>
      </p:sp>
      <p:pic>
        <p:nvPicPr>
          <p:cNvPr id="4" name="Image 0" descr="img/env_intersection_targeted_eqn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371600"/>
            <a:ext cx="502920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63040"/>
            <a:ext cx="5943600" cy="1691640"/>
          </a:xfrm>
          <a:prstGeom prst="roundRect">
            <a:avLst>
              <a:gd name="adj" fmla="val 4324"/>
            </a:avLst>
          </a:prstGeom>
          <a:solidFill>
            <a:srgbClr val="14232B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645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Mha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combined-only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the yield return nor the carbon return alone covers cost — yet together the margin is positive.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33375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9436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(Mha)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542032" y="33375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42032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633472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(Mha)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33375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6.9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66344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(Mha)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466344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 point: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carbon finance is not a bonus on an already-profitable practice — it is the marginal revenue that unlocks an otherwise-unprofitable, yield-improving investment.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WHAT BINDS THE CARBON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Marginal abatement cost, not kinetics</a:t>
            </a:r>
            <a:endParaRPr lang="en-US" sz="2900" dirty="0"/>
          </a:p>
        </p:txBody>
      </p:sp>
      <p:pic>
        <p:nvPicPr>
          <p:cNvPr id="4" name="Image 0" descr="img/mac_targeted_eqn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463040"/>
            <a:ext cx="51206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508760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14232B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6459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$446</a:t>
            </a:r>
            <a:pPr indent="0" marL="0">
              <a:buNone/>
            </a:pPr>
            <a:r>
              <a:rPr lang="en-US" sz="2000" dirty="0">
                <a:solidFill>
                  <a:srgbClr val="9FB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tCO₂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marginal abatement cost — well above today’s $150 VCM price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3063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 =  delivered cost per tonne of rock  ÷  durable CDR per tonne.  The public envelope is exactly the land where MAC &lt; net price (p − m).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406908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carbon case is limited by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CO₂ a tonne of rock verifiably removes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largest and least-resolved lever, and the clear field-calibration priority.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6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THREE LEVERS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shifts the public envelope outward</a:t>
            </a:r>
            <a:endParaRPr lang="en-US" sz="2900" dirty="0"/>
          </a:p>
        </p:txBody>
      </p:sp>
      <p:pic>
        <p:nvPicPr>
          <p:cNvPr id="4" name="Image 0" descr="img/public_area_vs_pr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737360"/>
            <a:ext cx="502920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600200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2011680"/>
            <a:ext cx="548640" cy="548640"/>
          </a:xfrm>
          <a:prstGeom prst="ellipse">
            <a:avLst/>
          </a:prstGeom>
          <a:solidFill>
            <a:srgbClr val="1C6BA0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17320" y="17373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VCM price (p)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area climbs from 2% of treated cropland at $100 to ~50% at $500. The most direct lever.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3081528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3493008"/>
            <a:ext cx="548640" cy="548640"/>
          </a:xfrm>
          <a:prstGeom prst="ellipse">
            <a:avLst/>
          </a:prstGeom>
          <a:solidFill>
            <a:srgbClr val="1C6BA0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493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417320" y="321868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delivered cost (C)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Transport-cost reductions (e.g. solar haulage) lower MAC pixel-by-pixel — see Assumption 1.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4562856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EFF4F8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" y="4974336"/>
            <a:ext cx="548640" cy="548640"/>
          </a:xfrm>
          <a:prstGeom prst="ellipse">
            <a:avLst/>
          </a:prstGeom>
          <a:solidFill>
            <a:srgbClr val="1C6BA0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974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417320" y="4700016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durable CDR per tonne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verified removal per tonne of rock cuts MAC directly. Kinetic saturation is second-order here.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OPTIMAL APPLICATION RATES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objective has an interior optimum</a:t>
            </a:r>
            <a:endParaRPr lang="en-US" sz="2900" dirty="0"/>
          </a:p>
        </p:txBody>
      </p:sp>
      <p:pic>
        <p:nvPicPr>
          <p:cNvPr id="4" name="Image 0" descr="img/optrate_pan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08760"/>
            <a:ext cx="1115568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3035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both refinements, each per-pixel objective is concave — so a pixel-specific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rate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exists for the private, public, and combined margins. The combined optimum is moderate (typically well below blanket-high uniform doses): enough over-application to earn extra carbon, but not so much that over-liming and saturation erode the return.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ROBUST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defensible priority geography</a:t>
            </a:r>
            <a:endParaRPr lang="en-US" sz="2900" dirty="0"/>
          </a:p>
        </p:txBody>
      </p:sp>
      <p:pic>
        <p:nvPicPr>
          <p:cNvPr id="4" name="Image 0" descr="img/core_prior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371600"/>
            <a:ext cx="502920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508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Intersecting the envelope across the plausible parameter grid isolates land that stays viable under most assumptions.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51460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E7F0EE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6791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~0.8 Mha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834640" y="2514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core-priority cropland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356616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E7F0EE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7307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~0.5 M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834640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 reached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461772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E7F0EE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" y="478231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~$0.75 B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834640" y="4617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value at stake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02920" y="56692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geography one would deploy first — and the base to expand as price rises or cost falls.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ERW is a coupled agronomic-and-carbon proposition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2075688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returns rarely each suffice alone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AEC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together they make a meaningful area of SSA cropland profitable that neither would — the 2.1 Mha combined-only band.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227832"/>
            <a:ext cx="457200" cy="457200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3154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finance is the margin, not a bonus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AEC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most viable land, VCM revenue is what unlocks a yield-improving investment. That reframes ERW away from a pure CDR supply curve.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306824"/>
            <a:ext cx="457200" cy="457200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423367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is durable CDR per tonne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AEC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Net-export accounting cuts first-application removal ~80%; median MAC is $446. Price, delivered cost, and verified removal are the three levers.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5385816"/>
            <a:ext cx="457200" cy="457200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385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5312664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it as coupled changes the answer
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AEC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changes both where to deploy first (the robust core) and what to invest in to expand it (field calibration of removal).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Caveats and where we go next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94767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calibration of durable removal per tonne is the single highest-value input — it sets MAC and the whole public case.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31927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modeled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and who finances the upfront cost, compaction / N₂O effects, and country-level credit eligibility (Article 6).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5720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469087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counts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national average holding sizes — order-of-magnitude.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28232" y="194767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sweep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around the parameters that move results most — removal per tonne, price, delivered cost, kβ, Kd.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2004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28232" y="331927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Optimal-rate maps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the pixel-specific private and combined optimal-rate maps into the manuscript.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45720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BF3EC"/>
          </a:solidFill>
          <a:ln w="12700">
            <a:solidFill>
              <a:srgbClr val="D5DD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28232" y="469087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 collaborate
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erw-exante-v2 to GitHub for coauthor review; manuscript points to the repo.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Rock Weathering — public &amp; private returns in SSA</a:t>
            </a:r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Gebrekidan &amp; Chamberlin (2026)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and private returns to Enhanced Rock Weathering in SSA</dc:title>
  <dc:subject>PptxGenJS Presentation</dc:subject>
  <dc:creator>Gebrekidan &amp; Chamberlin</dc:creator>
  <cp:lastModifiedBy>Gebrekidan &amp; Chamberlin</cp:lastModifiedBy>
  <cp:revision>1</cp:revision>
  <dcterms:created xsi:type="dcterms:W3CDTF">2026-07-06T13:48:31Z</dcterms:created>
  <dcterms:modified xsi:type="dcterms:W3CDTF">2026-07-06T13:48:31Z</dcterms:modified>
</cp:coreProperties>
</file>