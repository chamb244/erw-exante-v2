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6B46"/>
                </a:solidFill>
                <a:latin typeface="Avenir Next"/>
              </a:rPr>
              <a:t>EX ANTE ANALYSIS  ·  FULL WALKTHROUGH  ·  2026-09 MODEL BASIS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62B"/>
                </a:solidFill>
                <a:latin typeface="Avenir Next"/>
              </a:rPr>
              <a:t>Mapping the public and private returns to</a:t>
            </a:r>
          </a:p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1262B"/>
                </a:solidFill>
                <a:latin typeface="Avenir Next"/>
              </a:rPr>
              <a:t>Enhanced Rock Weathering in Sub-Saharan Africa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1262B"/>
                </a:solidFill>
                <a:latin typeface="Avenir Next"/>
              </a:rPr>
              <a:t>Bisrat Haile Gebrekidan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   (CIMMYT-Ethiopia)      ·      </a:t>
            </a:r>
            <a:r>
              <a:rPr sz="1600" b="1" i="0">
                <a:solidFill>
                  <a:srgbClr val="21262B"/>
                </a:solidFill>
                <a:latin typeface="Avenir Next"/>
              </a:rPr>
              <a:t>Jordan Chamberlin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   (CIMMYT-Kenya)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A6067"/>
                </a:solidFill>
                <a:latin typeface="Avenir Next"/>
              </a:rPr>
              <a:t>A spatially explicit, decomposed profitability model  —  44 SSA countries  ·  23 crops  ·  per-pixel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Working draft for Agricultural Economics — coauthor review.  All numbers from the 2026-09-01 run: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E6B46"/>
                </a:solidFill>
                <a:latin typeface="Avenir Next"/>
              </a:rPr>
              <a:t>Arrhenius weathering kinetics (Ea = 68.8 kJ/mol)  ·  pH optimum 6.0  ·  net-export CDR accounting  ·  ESROC-verified sources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THE PROPOSITION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ERW pays the farmer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5120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Spreading finely ground basalt on cropland couples two value streams that are usually separate: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PRIVATE — agronomic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Alkalinity neutralizes soil acidity like agricultural lime, raising yields. Accrues to the farmer.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PUBLIC — carbon (CDR)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Weathering durably removes atmospheric CO₂, monetizable through voluntary carbon markets (VCM).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21262B"/>
                </a:solidFill>
                <a:latin typeface="Avenir Next"/>
              </a:rPr>
              <a:t>Central question:  </a:t>
            </a:r>
            <a:r>
              <a:rPr sz="1350" b="0" i="0">
                <a:solidFill>
                  <a:srgbClr val="5A6067"/>
                </a:solidFill>
                <a:latin typeface="Avenir Next"/>
              </a:rPr>
              <a:t>where does each return justify deployment — and where does neither suffice alone, yet together they do?</a:t>
            </a:r>
          </a:p>
        </p:txBody>
      </p:sp>
      <p:pic>
        <p:nvPicPr>
          <p:cNvPr id="7" name="Picture 6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67059"/>
            <a:ext cx="5943600" cy="31810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WHAT WE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Six research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8191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56362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Where does the private (yield) return alone justify ERW investment?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1732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58191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56362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Where does the public (carbon) return alone justify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7180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3639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11810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Where do the two coincide — the intersection?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7180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313639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1810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Where does neither stream alone suffice, but the combined margin is positive?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52628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9087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67258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How robust is the deployable geography to parameter assumptions?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526280"/>
            <a:ext cx="5532120" cy="132588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690872"/>
            <a:ext cx="822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6B46"/>
                </a:solidFill>
                <a:latin typeface="Avenir Next"/>
              </a:rPr>
              <a:t>Q6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672584"/>
            <a:ext cx="4343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1262B"/>
                </a:solidFill>
                <a:latin typeface="Avenir Next"/>
              </a:rPr>
              <a:t>What would shift the public (carbon) envelope outward?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MODELING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A decomposed per-pixel gross margin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1262B"/>
                </a:solidFill>
                <a:latin typeface="Avenir Next"/>
              </a:rPr>
              <a:t>π  =  R</a:t>
            </a:r>
            <a:r>
              <a:rPr sz="1400" b="1" i="0">
                <a:solidFill>
                  <a:srgbClr val="2E6B46"/>
                </a:solidFill>
                <a:latin typeface="Avenir Next"/>
              </a:rPr>
              <a:t>agro</a:t>
            </a:r>
            <a:r>
              <a:rPr sz="2400" b="1" i="0">
                <a:solidFill>
                  <a:srgbClr val="21262B"/>
                </a:solidFill>
                <a:latin typeface="Avenir Next"/>
              </a:rPr>
              <a:t>  +  R</a:t>
            </a:r>
            <a:r>
              <a:rPr sz="1400" b="1" i="0">
                <a:solidFill>
                  <a:srgbClr val="1A4F9C"/>
                </a:solidFill>
                <a:latin typeface="Avenir Next"/>
              </a:rPr>
              <a:t>CDR</a:t>
            </a:r>
            <a:r>
              <a:rPr sz="2400" b="1" i="0">
                <a:solidFill>
                  <a:srgbClr val="21262B"/>
                </a:solidFill>
                <a:latin typeface="Avenir Next"/>
              </a:rPr>
              <a:t>  −  C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5A6067"/>
                </a:solidFill>
                <a:latin typeface="Avenir Next"/>
              </a:rPr>
              <a:t>gross margin = private agronomic return + public carbon return − full delivered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Resolution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~0.083° grid × 44 SSA countries × 23 SPAM crops, area-weighted to each pixel.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Three streams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Agronomic yield uplift, durable CDR credit, and a fully decomposed delivered cost.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Decision object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Each pixel is classified by which stream(s) make the margin positive — not a single supply curve.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Regimes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Evaluated at year-1, NPV @ 10%, and equilibrium steady state (the headline).</a:t>
            </a:r>
          </a:p>
        </p:txBody>
      </p:sp>
      <p:pic>
        <p:nvPicPr>
          <p:cNvPr id="6" name="Picture 5" descr="image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476055"/>
            <a:ext cx="6400800" cy="44545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Public data layers behind every pixel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545336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SOIL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SoilGrids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pH, ECEC, texture on cropland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1732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545336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CROPS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SPAM v2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23 crop distributions &amp; production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75320" y="141732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76488" y="1545336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AGRONOMY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EcoCrop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crop pH-suitability 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0088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118104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FEEDSTOCK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GLiM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basalt source geology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990088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3118104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LOGISTICS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MAP friction 2019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travel-time cost surface (Weiss et al. 2020)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2990088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76488" y="3118104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CLIMATE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WorldClim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temperature &amp; moisture for weathering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562856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4690872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PRICES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FAOSTAT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2016–20 producer-price medians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562856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4690872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LIME REQ.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LiTAS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lime-equivalent dose (targeting)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4562856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4690872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ACIDITY SINK</a:t>
            </a:r>
          </a:p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Merlos / Kamprath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standing &amp; maintenance acidity for net-export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FBA84"/>
                </a:solidFill>
                <a:latin typeface="Avenir Next"/>
              </a:rPr>
              <a:t>PART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4F2EC"/>
                </a:solidFill>
                <a:latin typeface="Avenir Next"/>
              </a:rPr>
              <a:t>The assumption 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B9C2BB"/>
                </a:solidFill>
                <a:latin typeface="Avenir Next"/>
              </a:rPr>
              <a:t>Five modeling choices govern every result: delivered cost, carbon price, net-export CDR accounting, an over-liming private penalty, and kinetic weathering saturation.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8A938C"/>
                </a:solidFill>
                <a:latin typeface="Avenir Nex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1 · DELIVERED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Cost is dominated by transport — a real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Decomposed cost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Quarry-gate + grinding + freight + spreading, built up per pixel from the friction surface; MRV netted from the carbon price.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Transport binds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Mean 55% (median 66%) of delivered cost. Remote acid soils are priced out even where the agronomy is strong.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The solar lever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Electrified / solar-assisted haulage cuts the variable transport term: −25% transport widens the private envelope 4.31 → 5.12 Mha, the public one only 1.95 → 2.07.</a:t>
            </a:r>
          </a:p>
        </p:txBody>
      </p:sp>
      <p:pic>
        <p:nvPicPr>
          <p:cNvPr id="5" name="Picture 4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189115"/>
            <a:ext cx="6309360" cy="50284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1 · DELIVERED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Delivered basalt cost, decomposed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1201400" cy="566928"/>
          </a:xfrm>
          <a:prstGeom prst="roundRect">
            <a:avLst>
              <a:gd name="adj" fmla="val 5500"/>
            </a:avLst>
          </a:prstGeom>
          <a:solidFill>
            <a:srgbClr val="E4E9E2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5389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453896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1262B"/>
                </a:solidFill>
                <a:latin typeface="Avenir Next"/>
              </a:rPr>
              <a:t>Cost per t basalt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453896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417320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Basis /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1226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Quarry-gate feedstock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112264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62B"/>
                </a:solidFill>
                <a:latin typeface="Avenir Next"/>
              </a:rPr>
              <a:t>$10 /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12264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fixed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075688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basalt fines as aggregate by-product (cf. $17.50/t US crushed-stone average, USGS)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706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Grinding (50 µm)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77063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62B"/>
                </a:solidFill>
                <a:latin typeface="Avenir Next"/>
              </a:rPr>
              <a:t>19.4 kWh/t × local tariff (≈$1.9/t)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7063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fixed*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734056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Strefler et al. 2018 energy curve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Transport (haulage)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3429000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62B"/>
                </a:solidFill>
                <a:latin typeface="Avenir Next"/>
              </a:rPr>
              <a:t>travel-time × $0.04/min/t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29000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variable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392424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30 t truck over MAP friction surface; within SSA corridor tariffs (Teravaninthorn &amp; Raballand 2009)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873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Spreading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408736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62B"/>
                </a:solidFill>
                <a:latin typeface="Avenir Next"/>
              </a:rPr>
              <a:t>$8 / 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87368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fixed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050792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on-farm application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63440"/>
            <a:ext cx="11201400" cy="566928"/>
          </a:xfrm>
          <a:prstGeom prst="roundRect">
            <a:avLst>
              <a:gd name="adj" fmla="val 5500"/>
            </a:avLst>
          </a:prstGeom>
          <a:solidFill>
            <a:srgbClr val="E4E9E2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74573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Delivered cost / 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4745736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1262B"/>
                </a:solidFill>
                <a:latin typeface="Avenir Next"/>
              </a:rPr>
              <a:t>quarry + grinding + transport + spreading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745736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= sum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709160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the delivered $/t consumed per pixel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0410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1262B"/>
                </a:solidFill>
                <a:latin typeface="Avenir Next"/>
              </a:rPr>
              <a:t>MRV (netted separately)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80" y="5404104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62B"/>
                </a:solidFill>
                <a:latin typeface="Avenir Next"/>
              </a:rPr>
              <a:t>$20 / tCO₂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404104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per tCO₂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367528"/>
            <a:ext cx="4434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low end of the $15–71/tCO₂ supplier range (Mercer et al. 2024, LSE Grantham)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11733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7"/>
                </a:solidFill>
                <a:latin typeface="Avenir Next"/>
              </a:rPr>
              <a:t>* grinding varies with the country electricity tariff; its life-cycle CO₂ (with transport and spreading) is separately deducted from gross removal.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2 · CARBON PRICE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The carbon return uses a net VCM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1A4F9C"/>
                </a:solidFill>
                <a:latin typeface="Avenir Next"/>
              </a:rPr>
              <a:t>EQUILIBRIUM · UNIFORM-20 (CARBON LEAD)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1262B"/>
                </a:solidFill>
                <a:latin typeface="Avenir Next"/>
              </a:rPr>
              <a:t>R</a:t>
            </a:r>
            <a:r>
              <a:rPr sz="1200" b="1" i="0">
                <a:solidFill>
                  <a:srgbClr val="1A4F9C"/>
                </a:solidFill>
                <a:latin typeface="Avenir Next"/>
              </a:rPr>
              <a:t>CDR</a:t>
            </a:r>
            <a:r>
              <a:rPr sz="2000" b="1" i="0">
                <a:solidFill>
                  <a:srgbClr val="21262B"/>
                </a:solidFill>
                <a:latin typeface="Avenir Next"/>
              </a:rPr>
              <a:t>  =  durable CDR × ( p − m )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5A6067"/>
                </a:solidFill>
                <a:latin typeface="Avenir Next"/>
              </a:rPr>
              <a:t>p = VCM carbon price ($/tCO₂)  ·  m = per-tonne MRV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688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Baseline is </a:t>
            </a:r>
            <a:r>
              <a:rPr sz="1250" b="1" i="0">
                <a:solidFill>
                  <a:srgbClr val="21262B"/>
                </a:solidFill>
                <a:latin typeface="Avenir Next"/>
              </a:rPr>
              <a:t>$150/tCO₂</a:t>
            </a:r>
            <a:r>
              <a:rPr sz="1250" b="0" i="0">
                <a:solidFill>
                  <a:srgbClr val="5A6067"/>
                </a:solidFill>
                <a:latin typeface="Avenir Next"/>
              </a:rPr>
              <a:t> — a conservative floor: 2024–25 durable-CDR transactions cluster at $250–450/tCO₂ (CDR.fyi). Price, MRV and delivered cost move the public envelope only through the single ratio (p − m)/c.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The ladder is steeply convex: between $250 and $350 the deployable area jumps from 7 to 23 Mha.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760720" cy="512064"/>
          </a:xfrm>
          <a:prstGeom prst="roundRect">
            <a:avLst>
              <a:gd name="adj" fmla="val 5500"/>
            </a:avLst>
          </a:prstGeom>
          <a:solidFill>
            <a:srgbClr val="E0E7F0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44475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4F9C"/>
                </a:solidFill>
                <a:latin typeface="Avenir Next"/>
              </a:rPr>
              <a:t>$/tCO₂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44475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4F9C"/>
                </a:solidFill>
                <a:latin typeface="Avenir Next"/>
              </a:rPr>
              <a:t>Public Mha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44475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4F9C"/>
                </a:solidFill>
                <a:latin typeface="Avenir Next"/>
              </a:rPr>
              <a:t>% treated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14447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4F9C"/>
                </a:solidFill>
                <a:latin typeface="Avenir Next"/>
              </a:rPr>
              <a:t>Durable CDR (Mt)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4825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$100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4825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1.40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04825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4.3%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048256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7.8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6517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$150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6517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3.95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6517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12.1%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26517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20.4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25526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$250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25526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7.00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325526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21.5%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255264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33.3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85876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$350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8587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23.06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8587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70.7%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385876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100.6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46227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$500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46227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27.98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446227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85.8%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446227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115.6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102352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7"/>
                </a:solidFill>
                <a:latin typeface="Avenir Next"/>
              </a:rPr>
              <a:t>Treated base: 32.6 Mha under uniform-20. On the targeted dose the $150 envelope is 1.95 Mha (11.1% of its 17.6 Mha treated base) — shares are not comparable across allocations.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3 · NET-EXPORT CDR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Credit only carbon that is durably exported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4892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21262B"/>
                </a:solidFill>
                <a:latin typeface="Avenir Next"/>
              </a:rPr>
              <a:t>durable CDR = max( gross − F·S , 0 )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5A6067"/>
                </a:solidFill>
                <a:latin typeface="Avenir Next"/>
              </a:rPr>
              <a:t>F = 0.88 tCO₂ per t CaCO₃-eq  ·  S = acidity sink (standing / maintenance)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86000"/>
            <a:ext cx="4892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6067"/>
                </a:solidFill>
                <a:latin typeface="Avenir Next"/>
              </a:rPr>
              <a:t>Alkalinity spent neutralizing soil acidity re-releases its CO₂ — exactly as agricultural lime does — so it must be deducted (West &amp; McBride 2005; Hamilton et al. 2007; Holden et al. 2024). A first-order sequential bound; exchange-stored cations can export later (Kanzaki et al. 2025).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2377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A03D26"/>
                </a:solidFill>
                <a:latin typeface="Avenir Next"/>
              </a:rPr>
              <a:t>≈70%</a:t>
            </a:r>
            <a:r>
              <a:rPr sz="1600" b="1" i="0">
                <a:solidFill>
                  <a:srgbClr val="A03D26"/>
                </a:solidFill>
                <a:latin typeface="Avenir Next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of credited removal is cut at first application once acidity neutralization is netted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65760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6067"/>
                </a:solidFill>
                <a:latin typeface="Avenir Next"/>
              </a:rPr>
              <a:t>Durable removal is largely a </a:t>
            </a:r>
            <a:r>
              <a:rPr sz="1200" b="1" i="0">
                <a:solidFill>
                  <a:srgbClr val="21262B"/>
                </a:solidFill>
                <a:latin typeface="Avenir Next"/>
              </a:rPr>
              <a:t>steady-state phenomenon</a:t>
            </a:r>
            <a:r>
              <a:rPr sz="1200" b="0" i="0">
                <a:solidFill>
                  <a:srgbClr val="5A6067"/>
                </a:solidFill>
                <a:latin typeface="Avenir Next"/>
              </a:rPr>
              <a:t> — equilibrium retention is 77% (targeted) to 90% (uniform-20). Hence the equilibrium headline.</a:t>
            </a:r>
          </a:p>
        </p:txBody>
      </p:sp>
      <p:pic>
        <p:nvPicPr>
          <p:cNvPr id="8" name="Picture 7" descr="walkthrough_ph_profile_n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469236"/>
            <a:ext cx="6309360" cy="24224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4 · OVER-LIMING PENALTY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Too much alkalinity can depress yield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Mechanism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Beyond the lime requirement, pH is pushed past the crop optimum; the EcoCrop response applies a yield haircut at the post-application pH.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Buffered shift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pH change is damped by soil buffering (β = kβ·ECEC); reacted alkalinity A = gross CDR / F.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Effect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Concentrated on high uniform doses: the central estimate trims the targeted private return ~7% (band 6–10%), but 20% at uniform-50 with a 3–99% band.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Status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The penalty parameters are stated assumptions — the ERW literature documents the risk only qualitatively (Swoboda et al. 2022).</a:t>
            </a:r>
          </a:p>
        </p:txBody>
      </p:sp>
      <p:pic>
        <p:nvPicPr>
          <p:cNvPr id="5" name="Picture 4" descr="overliming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788630"/>
            <a:ext cx="6309360" cy="3829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ASSUMPTION 5 · KINETIC SATURATION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Weathering reacts less-than-linearly with dose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21262B"/>
                </a:solidFill>
                <a:latin typeface="Avenir Next"/>
              </a:rPr>
              <a:t>sat(D) = ( K</a:t>
            </a:r>
            <a:r>
              <a:rPr sz="1200" b="1" i="0">
                <a:solidFill>
                  <a:srgbClr val="21262B"/>
                </a:solidFill>
                <a:latin typeface="Avenir Next"/>
              </a:rPr>
              <a:t>d</a:t>
            </a:r>
            <a:r>
              <a:rPr sz="1900" b="1" i="0">
                <a:solidFill>
                  <a:srgbClr val="21262B"/>
                </a:solidFill>
                <a:latin typeface="Avenir Next"/>
              </a:rPr>
              <a:t> + 50 ) / ( K</a:t>
            </a:r>
            <a:r>
              <a:rPr sz="1200" b="1" i="0">
                <a:solidFill>
                  <a:srgbClr val="21262B"/>
                </a:solidFill>
                <a:latin typeface="Avenir Next"/>
              </a:rPr>
              <a:t>d</a:t>
            </a:r>
            <a:r>
              <a:rPr sz="1900" b="1" i="0">
                <a:solidFill>
                  <a:srgbClr val="21262B"/>
                </a:solidFill>
                <a:latin typeface="Avenir Next"/>
              </a:rPr>
              <a:t> + D )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5A6067"/>
                </a:solidFill>
                <a:latin typeface="Avenir Next"/>
              </a:rPr>
              <a:t>effective reacted tonnage saturates in applied dose D, normalized at the Lewis (2021) 50 t/ha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51460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1262B"/>
                </a:solidFill>
                <a:latin typeface="Avenir Next"/>
              </a:rPr>
              <a:t>Key finding.  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Saturation makes CDR concave in dose (giving an interior optimum), but it does not drive the public envelope to zero. Below the 50 t/ha reference, per-tonne reactivity is higher — so at targeted doses durable CDR actually rises. What binds the carbon case is MAC &gt; price, not kinetics.</a:t>
            </a:r>
          </a:p>
        </p:txBody>
      </p:sp>
      <p:pic>
        <p:nvPicPr>
          <p:cNvPr id="6" name="Picture 5" descr="image-1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521026"/>
            <a:ext cx="6309360" cy="23645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DESIGN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Temporal regimes × allocation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The headline is the </a:t>
            </a:r>
            <a:r>
              <a:rPr sz="1300" b="1" i="0">
                <a:solidFill>
                  <a:srgbClr val="21262B"/>
                </a:solidFill>
                <a:latin typeface="Avenir Next"/>
              </a:rPr>
              <a:t>equilibrium steady state with net-export accounting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 — the targeted dose leads the private and intersection geography; </a:t>
            </a:r>
            <a:r>
              <a:rPr sz="1300" b="1" i="0">
                <a:solidFill>
                  <a:srgbClr val="1A4F9C"/>
                </a:solidFill>
                <a:latin typeface="Avenir Next"/>
              </a:rPr>
              <a:t>uniform-20 leads the carbon case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 (the lime-requirement dose is CDR-minimal by construction).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6B46"/>
                </a:solidFill>
                <a:latin typeface="Avenir Next"/>
              </a:rPr>
              <a:t>TEMPORAL REGIMES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7744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Year-1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One-time dose &amp; cost; durable CDR net of standing acidity. Most conservative on carbon.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NPV @ 10%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Discounted stream of relief and durable removal, phased over the 5-year residency.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Equilibrium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Steady-state durable removal against the maintenance dose — the headline regime.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057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4F9C"/>
                </a:solidFill>
                <a:latin typeface="Avenir Next"/>
              </a:rPr>
              <a:t>ALLOCATION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7744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Targeted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LiTAS lime-equivalent dose — agronomically matched. Leads private &amp; intersection.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Uniform 10 / 20 / 50 t/ha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Fixed rates — trace how CDR and over-liming scale with dose. Uniform-20 leads the carbon case.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Weathering kinetics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Arrhenius temperature response (Ea = 68.8 kJ/mol) · unimodal pH factor peaking at 6.0 (2026-09 basis).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HOW TO READ THE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Establishment dose vs. steady-state maintenance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1508760" cy="2377440"/>
          </a:xfrm>
          <a:prstGeom prst="roundRect">
            <a:avLst>
              <a:gd name="adj" fmla="val 5500"/>
            </a:avLst>
          </a:prstGeom>
          <a:solidFill>
            <a:srgbClr val="A03D26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069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Year 1
(establishment)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79" y="3503981"/>
            <a:ext cx="1508760" cy="427939"/>
          </a:xfrm>
          <a:prstGeom prst="roundRect">
            <a:avLst>
              <a:gd name="adj" fmla="val 5500"/>
            </a:avLst>
          </a:prstGeom>
          <a:solidFill>
            <a:srgbClr val="5A6067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39" y="4069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Year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1998" y="3503981"/>
            <a:ext cx="1508760" cy="427939"/>
          </a:xfrm>
          <a:prstGeom prst="roundRect">
            <a:avLst>
              <a:gd name="adj" fmla="val 5500"/>
            </a:avLst>
          </a:prstGeom>
          <a:solidFill>
            <a:srgbClr val="5A6067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8" y="4069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Year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17" y="3503981"/>
            <a:ext cx="1508760" cy="427939"/>
          </a:xfrm>
          <a:prstGeom prst="roundRect">
            <a:avLst>
              <a:gd name="adj" fmla="val 5500"/>
            </a:avLst>
          </a:prstGeom>
          <a:solidFill>
            <a:srgbClr val="5A6067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7" y="4069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Year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36" y="3503981"/>
            <a:ext cx="1508760" cy="427939"/>
          </a:xfrm>
          <a:prstGeom prst="roundRect">
            <a:avLst>
              <a:gd name="adj" fmla="val 5500"/>
            </a:avLst>
          </a:prstGeom>
          <a:solidFill>
            <a:srgbClr val="2E6B46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6" y="40690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6067"/>
                </a:solidFill>
                <a:latin typeface="Avenir Next"/>
              </a:rPr>
              <a:t>steady state
(maintenance)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20700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7"/>
                </a:solidFill>
                <a:latin typeface="Avenir Next"/>
              </a:rPr>
              <a:t>bar height ∝ basalt applied that period — charged at its full delivered cost; the yield benefit recurs every year once soils are held at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0916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EQUILIBRIUM — the headline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Full annual yield vs the fully-costed maintenance top-up, once soils are at target. Private envelope: ≈ $3.5 B yield for ≈ $1.74 B rock (~2:1 per cycle). Excludes the establishment dose.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YEAR-1 — establishment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One-time full lime-equivalent dose; standing acidity consumes most first-application alkalinity, so the carbon case is thin until steady state.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FBA84"/>
                </a:solidFill>
                <a:latin typeface="Avenir Next"/>
              </a:rPr>
              <a:t>PART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4F2EC"/>
                </a:solidFill>
                <a:latin typeface="Avenir Next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B9C2BB"/>
                </a:solidFill>
                <a:latin typeface="Avenir Next"/>
              </a:rPr>
              <a:t>Envelopes and the combined-only band · durable carbon and marginal abatement cost · what shifts the public frontier · optimal rates · the robust core geography.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8A938C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TYPOLOGY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A five-way pixel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1A4F9C"/>
                </a:solidFill>
                <a:latin typeface="Avenir Next"/>
              </a:rPr>
              <a:t>EQUILIBRIUM · NET-EXPORT · TARGETED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4572000" cy="841248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27048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2E6B46"/>
                </a:solidFill>
                <a:latin typeface="Avenir Next"/>
              </a:rPr>
              <a:t>Private-sufficient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527048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R_agro − C &gt;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68296"/>
            <a:ext cx="4572000" cy="841248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78024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A4F9C"/>
                </a:solidFill>
                <a:latin typeface="Avenir Next"/>
              </a:rPr>
              <a:t>Public-sufficient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478024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R_CDR − C &gt;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319272"/>
            <a:ext cx="4572000" cy="841248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29000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6A3D8F"/>
                </a:solidFill>
                <a:latin typeface="Avenir Next"/>
              </a:rPr>
              <a:t>Intersection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42900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both hold at the same pixel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70248"/>
            <a:ext cx="4572000" cy="841248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79976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A03D26"/>
                </a:solidFill>
                <a:latin typeface="Avenir Next"/>
              </a:rPr>
              <a:t>Combined-only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4379976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neither alone, but GM &gt;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21224"/>
            <a:ext cx="4572000" cy="841248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30952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5A6067"/>
                </a:solidFill>
                <a:latin typeface="Avenir Next"/>
              </a:rPr>
              <a:t>Neither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5330952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A6067"/>
                </a:solidFill>
                <a:latin typeface="Avenir Next"/>
              </a:rPr>
              <a:t>GM ≤ 0 — not deployable</a:t>
            </a:r>
          </a:p>
        </p:txBody>
      </p:sp>
      <p:pic>
        <p:nvPicPr>
          <p:cNvPr id="20" name="Picture 19" descr="env_typology_targe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740" y="1188720"/>
            <a:ext cx="5486400" cy="5029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PRIVATE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Where yield alone pays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EQUILIBRIUM · TARGETED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Land where the agronomic return covers the full delivered cost with no carbon credit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2377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6B46"/>
                </a:solidFill>
                <a:latin typeface="Avenir Next"/>
              </a:rPr>
              <a:t>4.3</a:t>
            </a:r>
            <a:r>
              <a:rPr sz="1600" b="1" i="0">
                <a:solidFill>
                  <a:srgbClr val="2E6B46"/>
                </a:solidFill>
                <a:latin typeface="Avenir Next"/>
              </a:rPr>
              <a:t> Mha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private-sufficient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286000"/>
            <a:ext cx="2377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6B46"/>
                </a:solidFill>
                <a:latin typeface="Avenir Next"/>
              </a:rPr>
              <a:t>$3.5</a:t>
            </a:r>
            <a:r>
              <a:rPr sz="1600" b="1" i="0">
                <a:solidFill>
                  <a:srgbClr val="2E6B46"/>
                </a:solidFill>
                <a:latin typeface="Avenir Next"/>
              </a:rPr>
              <a:t> B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private return per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The largest single envelope under the targeted dose — and unchanged by the carbon-side model revision, because it does not depend on the CDR surface.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But it is a minority of acid cropland: most viable land needs more than yield to pencil.</a:t>
            </a:r>
          </a:p>
        </p:txBody>
      </p:sp>
      <p:pic>
        <p:nvPicPr>
          <p:cNvPr id="9" name="Picture 8" descr="env_private_targe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48640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PUBLIC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Where carbon alone pays (durably)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1A4F9C"/>
                </a:solidFill>
                <a:latin typeface="Avenir Next"/>
              </a:rPr>
              <a:t>EQUILIBRIUM · UNIFORM-20 (CARBON LEAD)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Land where durable, net-export CDR at $150/tCO₂ covers the full delivered cost with no yield benefit.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2377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1A4F9C"/>
                </a:solidFill>
                <a:latin typeface="Avenir Next"/>
              </a:rPr>
              <a:t>3.95</a:t>
            </a:r>
            <a:r>
              <a:rPr sz="1600" b="1" i="0">
                <a:solidFill>
                  <a:srgbClr val="1A4F9C"/>
                </a:solidFill>
                <a:latin typeface="Avenir Next"/>
              </a:rPr>
              <a:t> Mha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durable public area (20.4 Mt)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286000"/>
            <a:ext cx="2377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1A4F9C"/>
                </a:solidFill>
                <a:latin typeface="Avenir Next"/>
              </a:rPr>
              <a:t>12.1%</a:t>
            </a:r>
            <a:r>
              <a:rPr sz="1600" b="1" i="0">
                <a:solidFill>
                  <a:srgbClr val="1A4F9C"/>
                </a:solidFill>
                <a:latin typeface="Avenir Next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of treated cropland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On the targeted dose the carbon-only case is 1.95 Mha (11.1% of its treated base) — the lime-requirement dose is CDR-minimal by construction.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Net-export accounting and today's price keep the carbon-only case tightly bound — the reason the combined case matters.</a:t>
            </a:r>
          </a:p>
        </p:txBody>
      </p:sp>
      <p:pic>
        <p:nvPicPr>
          <p:cNvPr id="9" name="Picture 8" descr="env_public_uniform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48640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A03D26"/>
                </a:solidFill>
                <a:latin typeface="Avenir Next"/>
              </a:rPr>
              <a:t>RESULTS · THE CENTRAL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The combined-only band is the policy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EQUILIBRIUM · TARGETED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2926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A03D26"/>
                </a:solidFill>
                <a:latin typeface="Avenir Next"/>
              </a:rPr>
              <a:t>2.7</a:t>
            </a:r>
            <a:r>
              <a:rPr sz="1600" b="1" i="0">
                <a:solidFill>
                  <a:srgbClr val="A03D26"/>
                </a:solidFill>
                <a:latin typeface="Avenir Next"/>
              </a:rPr>
              <a:t> Mha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combined-only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14600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neither the yield return nor the carbon return alone covers cost — yet together the margin is positive.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66160"/>
            <a:ext cx="1554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1262B"/>
                </a:solidFill>
                <a:latin typeface="Avenir Next"/>
              </a:rPr>
              <a:t>4.3</a:t>
            </a:r>
            <a:r>
              <a:rPr sz="1600" b="1" i="0">
                <a:solidFill>
                  <a:srgbClr val="21262B"/>
                </a:solidFill>
                <a:latin typeface="Avenir Next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private (Mha)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566160"/>
            <a:ext cx="1554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1262B"/>
                </a:solidFill>
                <a:latin typeface="Avenir Next"/>
              </a:rPr>
              <a:t>2.0</a:t>
            </a:r>
            <a:r>
              <a:rPr sz="1600" b="1" i="0">
                <a:solidFill>
                  <a:srgbClr val="21262B"/>
                </a:solidFill>
                <a:latin typeface="Avenir Next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public (Mha)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3566160"/>
            <a:ext cx="1554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1262B"/>
                </a:solidFill>
                <a:latin typeface="Avenir Next"/>
              </a:rPr>
              <a:t>7.6</a:t>
            </a:r>
            <a:r>
              <a:rPr sz="1600" b="1" i="0">
                <a:solidFill>
                  <a:srgbClr val="21262B"/>
                </a:solidFill>
                <a:latin typeface="Avenir Next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combined (Mha)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1262B"/>
                </a:solidFill>
                <a:latin typeface="Avenir Next"/>
              </a:rPr>
              <a:t>The economic point:  </a:t>
            </a:r>
            <a:r>
              <a:rPr sz="1250" b="0" i="0">
                <a:solidFill>
                  <a:srgbClr val="5A6067"/>
                </a:solidFill>
                <a:latin typeface="Avenir Next"/>
              </a:rPr>
              <a:t>voluntary carbon finance is not a bonus on an already-profitable practice — it is the marginal revenue that unlocks an otherwise-unprofitable, yield-improving investment.</a:t>
            </a:r>
          </a:p>
        </p:txBody>
      </p:sp>
      <p:pic>
        <p:nvPicPr>
          <p:cNvPr id="11" name="Picture 10" descr="env_intersection_targe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486400" cy="5029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WHAT BINDS THE CARBON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Marginal abatement cost, not kinetics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1A4F9C"/>
                </a:solidFill>
                <a:latin typeface="Avenir Next"/>
              </a:rPr>
              <a:t>EQUILIBRIUM · UNIFORM-20 (CARBON LEAD)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3840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200" b="1" i="0">
                <a:solidFill>
                  <a:srgbClr val="1A4F9C"/>
                </a:solidFill>
                <a:latin typeface="Avenir Next"/>
              </a:rPr>
              <a:t>$276</a:t>
            </a:r>
            <a:r>
              <a:rPr sz="1600" b="1" i="0">
                <a:solidFill>
                  <a:srgbClr val="1A4F9C"/>
                </a:solidFill>
                <a:latin typeface="Avenir Next"/>
              </a:rPr>
              <a:t> / tCO₂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area-weighted median MAC — vs a $130 net credit price ($330 on the targeted dose)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8803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MAC = delivered cost per tonne of rock ÷ durable CDR per tonne. The public envelope is exactly the land where MAC &lt; (p − m).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1262B"/>
                </a:solidFill>
                <a:latin typeface="Avenir Next"/>
              </a:rPr>
              <a:t>That median sits at the upper edge of the published cost-synthesis IQR ($137–276; Suhrhoff et al. 2026) — the residual gap is accounting stringency, not SSA logistics.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634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So the carbon case is limited by </a:t>
            </a:r>
            <a:r>
              <a:rPr sz="1250" b="1" i="0">
                <a:solidFill>
                  <a:srgbClr val="21262B"/>
                </a:solidFill>
                <a:latin typeface="Avenir Next"/>
              </a:rPr>
              <a:t>how much CO₂ a tonne of rock verifiably removes</a:t>
            </a:r>
            <a:r>
              <a:rPr sz="1250" b="0" i="0">
                <a:solidFill>
                  <a:srgbClr val="5A6067"/>
                </a:solidFill>
                <a:latin typeface="Avenir Next"/>
              </a:rPr>
              <a:t> — the largest and least-resolved lever, and the clear field-calibration priority.</a:t>
            </a:r>
          </a:p>
        </p:txBody>
      </p:sp>
      <p:pic>
        <p:nvPicPr>
          <p:cNvPr id="8" name="Picture 7" descr="mac_uniform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486400" cy="502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THE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Two levers — not three — shift the public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1A4F9C"/>
                </a:solidFill>
                <a:latin typeface="Avenir Next"/>
              </a:rPr>
              <a:t>EQUILIBRIUM · UNIFORM-20 (CARBON LEAD)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1 · The price–cost ratio (p − m)/c</a:t>
            </a:r>
          </a:p>
          <a:p>
            <a:pPr algn="l">
              <a:spcAft>
                <a:spcPts val="1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Carbon price, MRV and delivered cost enter the public test only through this single ratio: deployable area climbs from 4.3% of treated cropland at $100 to 86% at $500. Cost cuts (solar haulage) act on the same lever — and move mostly the private envelope.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2 · Durable CDR per tonne of rock</a:t>
            </a:r>
          </a:p>
          <a:p>
            <a:pPr algn="l">
              <a:spcAft>
                <a:spcPts val="1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Scaled where it physically acts — on gross removal, before the acidity sink. Because the sink and life-cycle terms are fixed subtrahends, durable removal is super-linear in it: doubling the rate takes the public envelope 3.95 → 22.5 Mha (~6×). Kinetic saturation is second-order here.</a:t>
            </a:r>
          </a:p>
        </p:txBody>
      </p:sp>
      <p:pic>
        <p:nvPicPr>
          <p:cNvPr id="6" name="Picture 5" descr="cdr_rate_sensitivity_panel_uniform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362581"/>
            <a:ext cx="6309360" cy="26814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OPTIMAL APPLICATION RATES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Each objective has an interior optimum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With over-liming and saturation in place, each per-pixel objective is concave — so a pixel-specific </a:t>
            </a:r>
            <a:r>
              <a:rPr sz="1300" b="1" i="0">
                <a:solidFill>
                  <a:srgbClr val="21262B"/>
                </a:solidFill>
                <a:latin typeface="Avenir Next"/>
              </a:rPr>
              <a:t>optimal rate</a:t>
            </a:r>
            <a:r>
              <a:rPr sz="1300" b="0" i="0">
                <a:solidFill>
                  <a:srgbClr val="5A6067"/>
                </a:solidFill>
                <a:latin typeface="Avenir Next"/>
              </a:rPr>
              <a:t> exists for the private, public, and combined margins.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A6067"/>
                </a:solidFill>
                <a:latin typeface="Avenir Next"/>
              </a:rPr>
              <a:t>The combined optimum is moderate (typically well below blanket-high uniform doses): enough over-application to earn extra carbon, but not so much that over-liming and saturation erode the return.</a:t>
            </a:r>
          </a:p>
          <a:p>
            <a:pPr algn="l">
              <a:spcAft>
                <a:spcPts val="1000"/>
              </a:spcAft>
            </a:pPr>
            <a:r>
              <a:rPr sz="1100" b="0" i="1">
                <a:solidFill>
                  <a:srgbClr val="5A6067"/>
                </a:solidFill>
                <a:latin typeface="Avenir Next"/>
              </a:rPr>
              <a:t>Prototype refinement — maps are illustrative (pre-revision basis); promoting them to the headline is on the roadmap.</a:t>
            </a:r>
          </a:p>
        </p:txBody>
      </p:sp>
      <p:pic>
        <p:nvPicPr>
          <p:cNvPr id="5" name="Picture 4" descr="image-2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561939"/>
            <a:ext cx="6309360" cy="22827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RESULTS · ROBUST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A defensible priority geography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310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1" i="0">
                <a:solidFill>
                  <a:srgbClr val="2E6B46"/>
                </a:solidFill>
                <a:latin typeface="Avenir Next"/>
              </a:rPr>
              <a:t>EQUILIBRIUM · NET-EXPORT · TARGETED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Intersecting the envelope across the 180-point parameter grid isolates land that stays viable under most assumptions.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028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A03D26"/>
                </a:solidFill>
                <a:latin typeface="Avenir Next"/>
              </a:rPr>
              <a:t>0.65</a:t>
            </a:r>
            <a:r>
              <a:rPr sz="1600" b="1" i="0">
                <a:solidFill>
                  <a:srgbClr val="A03D26"/>
                </a:solidFill>
                <a:latin typeface="Avenir Next"/>
              </a:rPr>
              <a:t> Mha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robust core (≥50% of grid)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224028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A03D26"/>
                </a:solidFill>
                <a:latin typeface="Avenir Next"/>
              </a:rPr>
              <a:t>0.38</a:t>
            </a:r>
            <a:r>
              <a:rPr sz="1600" b="1" i="0">
                <a:solidFill>
                  <a:srgbClr val="A03D26"/>
                </a:solidFill>
                <a:latin typeface="Avenir Next"/>
              </a:rPr>
              <a:t> M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farms reached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A03D26"/>
                </a:solidFill>
                <a:latin typeface="Avenir Next"/>
              </a:rPr>
              <a:t>$0.60</a:t>
            </a:r>
            <a:r>
              <a:rPr sz="1600" b="1" i="0">
                <a:solidFill>
                  <a:srgbClr val="A03D26"/>
                </a:solidFill>
                <a:latin typeface="Avenir Next"/>
              </a:rPr>
              <a:t> B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crop value at stake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352044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C07A2B"/>
                </a:solidFill>
                <a:latin typeface="Avenir Next"/>
              </a:rPr>
              <a:t>1.22</a:t>
            </a:r>
            <a:r>
              <a:rPr sz="1600" b="1" i="0">
                <a:solidFill>
                  <a:srgbClr val="C07A2B"/>
                </a:solidFill>
                <a:latin typeface="Avenir Next"/>
              </a:rPr>
              <a:t> Mha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candidate tier (≥33%)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Four-fifths of the candidate tier sits in Cameroon (0.61 Mha) and Guinea (0.38) — the geography to deploy first, and the base to expand as the price–cost ratio or the verified CDR rate improves.</a:t>
            </a:r>
          </a:p>
        </p:txBody>
      </p:sp>
      <p:pic>
        <p:nvPicPr>
          <p:cNvPr id="11" name="Picture 10" descr="core_pr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88720"/>
            <a:ext cx="5486400" cy="5029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ERW is a coupled agronomic-and-carbon proposition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5532120" cy="210312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645920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1262B"/>
                </a:solidFill>
                <a:latin typeface="Avenir Next"/>
              </a:rPr>
              <a:t>1 · The two returns rarely each suffice alone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6067"/>
                </a:solidFill>
                <a:latin typeface="Avenir Next"/>
              </a:rPr>
              <a:t>But together they make a meaningful area of SSA cropland profitable that neither would — the 2.7 Mha combined-only band.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532120" cy="210312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5392" y="1645920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1262B"/>
                </a:solidFill>
                <a:latin typeface="Avenir Next"/>
              </a:rPr>
              <a:t>2 · Carbon finance is the margin, not a bonus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6067"/>
                </a:solidFill>
                <a:latin typeface="Avenir Next"/>
              </a:rPr>
              <a:t>On most viable land, VCM revenue is what unlocks a yield-improving investment. That reframes ERW away from a pure CDR supply curve.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794760"/>
            <a:ext cx="5532120" cy="210312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3977640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1262B"/>
                </a:solidFill>
                <a:latin typeface="Avenir Next"/>
              </a:rPr>
              <a:t>3 · The binding constraint is durable CDR per tonne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6067"/>
                </a:solidFill>
                <a:latin typeface="Avenir Next"/>
              </a:rPr>
              <a:t>Net-export accounting cuts first-application removal ~70%; the area-weighted median MAC is $276 (uniform-20) / $330 (targeted). The price–cost ratio and the verified CDR rate are the only two structural levers.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794760"/>
            <a:ext cx="5532120" cy="2103120"/>
          </a:xfrm>
          <a:prstGeom prst="roundRect">
            <a:avLst>
              <a:gd name="adj" fmla="val 5500"/>
            </a:avLst>
          </a:prstGeom>
          <a:solidFill>
            <a:srgbClr val="F1EFE9"/>
          </a:solidFill>
          <a:ln w="9525">
            <a:solidFill>
              <a:srgbClr val="D9D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3977640"/>
            <a:ext cx="50292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1262B"/>
                </a:solidFill>
                <a:latin typeface="Avenir Next"/>
              </a:rPr>
              <a:t>4 · Treating it as coupled changes the answer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6067"/>
                </a:solidFill>
                <a:latin typeface="Avenir Next"/>
              </a:rPr>
              <a:t>Both where one would deploy first (the Cameroon and Guinea highlands core) and what one would invest in to expand it (field-calibrated removal rates and cheaper delivery).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6B46"/>
                </a:solidFill>
                <a:latin typeface="Avenir Next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1262B"/>
                </a:solidFill>
                <a:latin typeface="Avenir Next"/>
              </a:rPr>
              <a:t>Caveats and where we go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A03D26"/>
                </a:solidFill>
                <a:latin typeface="Avenir Next"/>
              </a:rPr>
              <a:t>CAVEATS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Priorities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Field calibration of durable removal per tonne is the single highest-value input — it sets MAC and the whole public case.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Not yet modeled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Tenure and upfront finance; compaction; downstream river–ocean losses (~15–20% of exported removal, Renforth &amp; Henderson 2017); country-level credit eligibility (Article 6). Omitted N₂O effects likely run in ERW's favor.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Farm counts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Based on national average holding sizes — order-of-magnitude.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6B46"/>
                </a:solidFill>
                <a:latin typeface="Avenir Next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916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Registry-grade accounting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Align the net-export bound with VCM methodology counterfactuals (liming substitution, financial-additionality screens).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Optimal-rate maps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Promote the pixel-specific private/public/combined optima from prototype to headline.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62B"/>
                </a:solidFill>
                <a:latin typeface="Avenir Next"/>
              </a:rPr>
              <a:t>Share &amp; collaborate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5A6067"/>
                </a:solidFill>
                <a:latin typeface="Avenir Next"/>
              </a:rPr>
              <a:t>The interactive envelope explorer reproduces every slider of this analysis in one self-contained HTML file — no install.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A6067"/>
                </a:solidFill>
                <a:latin typeface="Avenir Next"/>
              </a:rPr>
              <a:t>Enhanced Rock Weathering — public &amp; private returns in SSA    ·    Gebrekidan &amp; Chamberlin (2026)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5A6067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