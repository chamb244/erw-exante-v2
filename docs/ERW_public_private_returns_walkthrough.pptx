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257800"/>
            <a:ext cx="12188952" cy="54864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0515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8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ANTE ANALYSIS · FULL WALKTHROUGH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Mapping the public and private returns to</a:t>
            </a:r>
            <a:endParaRPr lang="en-US" sz="3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Enhanced Rock Weathering in Sub-Saharan Africa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822960" y="3703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Bisrat Haile Gebrekidan</a:t>
            </a:r>
            <a:pPr indent="0" marL="0">
              <a:buNone/>
            </a:pPr>
            <a:r>
              <a:rPr lang="en-US" sz="1500" dirty="0">
                <a:solidFill>
                  <a:srgbClr val="9FB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(CIMMYT-Ethiopia)   ·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Jordan Chamberlin</a:t>
            </a:r>
            <a:pPr indent="0" marL="0">
              <a:buNone/>
            </a:pPr>
            <a:r>
              <a:rPr lang="en-US" sz="1500" dirty="0">
                <a:solidFill>
                  <a:srgbClr val="9FB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(CIMMYT-Kenya)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5532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B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spatially explicit, decomposed profitability model — 44 SSA countries · 23 crops · per-pixel grid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59893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9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draft for Agricultural Economics — coauthor review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ERW pays the farmer twice</a:t>
            </a:r>
            <a:endParaRPr lang="en-US" sz="2900" dirty="0"/>
          </a:p>
        </p:txBody>
      </p:sp>
      <p:pic>
        <p:nvPicPr>
          <p:cNvPr id="4" name="Image 0" descr="img/revised_schematic_return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0" y="1417320"/>
            <a:ext cx="5669280" cy="4206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46304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Spreading finely ground basalt on cropland couples two value streams that are usually separate: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02920" y="242316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1F7F1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1520" y="256032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 —  agronomic
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Alkalinity neutralizes soil acidity like agricultural lime, raising yields. Accrues to the farmer.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02920" y="379476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EFF4F8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31520" y="393192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1C6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 —  carbon (CDR)
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Weathering durably removes atmospheric CO₂, monetizable through voluntary carbon markets (VCM).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521208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E88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question: where does each return justify deployment — and where does neither suffice alone, yet together they do?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Rock Weathering — public &amp; private returns in SSA</a:t>
            </a:r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Gebrekidan &amp; Chamberlin (2026)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research questions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5532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10512"/>
            <a:ext cx="822960" cy="822960"/>
          </a:xfrm>
          <a:prstGeom prst="ellipse">
            <a:avLst/>
          </a:prstGeom>
          <a:solidFill>
            <a:srgbClr val="14232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1051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88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737360" y="1737360"/>
            <a:ext cx="4069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5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the private (yield) return alone justify ERW investment?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17920" y="1554480"/>
            <a:ext cx="5532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46520" y="1810512"/>
            <a:ext cx="822960" cy="822960"/>
          </a:xfrm>
          <a:prstGeom prst="ellipse">
            <a:avLst/>
          </a:prstGeom>
          <a:solidFill>
            <a:srgbClr val="14232B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81051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88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452360" y="1737360"/>
            <a:ext cx="4069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5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the public (carbon) return alone justify it?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02920" y="3108960"/>
            <a:ext cx="5532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3364992"/>
            <a:ext cx="822960" cy="822960"/>
          </a:xfrm>
          <a:prstGeom prst="ellipse">
            <a:avLst/>
          </a:prstGeom>
          <a:solidFill>
            <a:srgbClr val="14232B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3649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88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737360" y="3291840"/>
            <a:ext cx="4069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5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the two coincide — the intersection?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217920" y="3108960"/>
            <a:ext cx="5532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46520" y="3364992"/>
            <a:ext cx="822960" cy="822960"/>
          </a:xfrm>
          <a:prstGeom prst="ellipse">
            <a:avLst/>
          </a:prstGeom>
          <a:solidFill>
            <a:srgbClr val="14232B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33649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88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7452360" y="3291840"/>
            <a:ext cx="4069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5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neither stream alone suffice, but the combined margin is positive?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02920" y="4663440"/>
            <a:ext cx="5532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4919472"/>
            <a:ext cx="822960" cy="822960"/>
          </a:xfrm>
          <a:prstGeom prst="ellipse">
            <a:avLst/>
          </a:prstGeom>
          <a:solidFill>
            <a:srgbClr val="14232B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91947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88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Q5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1737360" y="4846320"/>
            <a:ext cx="4069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5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robust is the deployable geography to parameter assumptions?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6217920" y="4663440"/>
            <a:ext cx="5532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46520" y="4919472"/>
            <a:ext cx="822960" cy="822960"/>
          </a:xfrm>
          <a:prstGeom prst="ellipse">
            <a:avLst/>
          </a:prstGeom>
          <a:solidFill>
            <a:srgbClr val="14232B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491947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88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Q6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7452360" y="4846320"/>
            <a:ext cx="4069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5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shift the public (carbon) envelope outward?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Rock Weathering — public &amp; private returns in SSA</a:t>
            </a:r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Gebrekidan &amp; Chamberlin (2026)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FRAMEWORK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decomposed per-pixel gross margin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11155680" cy="1234440"/>
          </a:xfrm>
          <a:prstGeom prst="roundRect">
            <a:avLst>
              <a:gd name="adj" fmla="val 5926"/>
            </a:avLst>
          </a:prstGeom>
          <a:solidFill>
            <a:srgbClr val="14232B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57276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</a:t>
            </a:r>
            <a:pPr indent="0" marL="0">
              <a:buNone/>
            </a:pPr>
            <a:r>
              <a:rPr lang="en-US" sz="2200" dirty="0">
                <a:solidFill>
                  <a:srgbClr val="9FB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</a:t>
            </a:r>
            <a:pPr indent="0" marL="0">
              <a:buNone/>
            </a:pPr>
            <a:r>
              <a:rPr lang="en-US" sz="2600" b="1" dirty="0">
                <a:solidFill>
                  <a:srgbClr val="7FC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pPr indent="0" marL="0">
              <a:buNone/>
            </a:pPr>
            <a:r>
              <a:rPr lang="en-US" sz="1300" dirty="0">
                <a:solidFill>
                  <a:srgbClr val="7FC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</a:t>
            </a:r>
            <a:pPr indent="0" marL="0">
              <a:buNone/>
            </a:pPr>
            <a:r>
              <a:rPr lang="en-US" sz="2200" dirty="0">
                <a:solidFill>
                  <a:srgbClr val="9FB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+   </a:t>
            </a:r>
            <a:pPr indent="0" marL="0">
              <a:buNone/>
            </a:pPr>
            <a:r>
              <a:rPr lang="en-US" sz="2600" b="1" dirty="0">
                <a:solidFill>
                  <a:srgbClr val="7F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pPr indent="0" marL="0">
              <a:buNone/>
            </a:pPr>
            <a:r>
              <a:rPr lang="en-US" sz="1300" dirty="0">
                <a:solidFill>
                  <a:srgbClr val="7F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CDR</a:t>
            </a:r>
            <a:pPr indent="0" marL="0">
              <a:buNone/>
            </a:pPr>
            <a:r>
              <a:rPr lang="en-US" sz="2200" dirty="0">
                <a:solidFill>
                  <a:srgbClr val="9FB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−   </a:t>
            </a:r>
            <a:pPr indent="0" marL="0">
              <a:buNone/>
            </a:pPr>
            <a:r>
              <a:rPr lang="en-US" sz="2600" b="1" dirty="0">
                <a:solidFill>
                  <a:srgbClr val="F0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B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per-hectare gross margin  =  private agronomic return  +  public carbon return  −  full delivered cost</a:t>
            </a:r>
            <a:endParaRPr lang="en-US" sz="1300" dirty="0"/>
          </a:p>
        </p:txBody>
      </p:sp>
      <p:pic>
        <p:nvPicPr>
          <p:cNvPr id="7" name="Image 0" descr="img/erw_model_architecture_three_stream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2880360"/>
            <a:ext cx="5760720" cy="32918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990088"/>
            <a:ext cx="128016" cy="128016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288036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C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~0.083° grid × 44 SSA countries × 23 SPAM crops, area-weighted to each pixel.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3794760"/>
            <a:ext cx="128016" cy="128016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3685032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streams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C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Agronomic yield uplift, durable CDR credit, and a fully decomposed delivered cost.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4599432"/>
            <a:ext cx="128016" cy="128016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4489704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object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C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pixel is classified by which stream(s) make the margin positive — not a single supply curve.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48640" y="5404104"/>
            <a:ext cx="128016" cy="128016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" y="5294376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Regimes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C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at year-1, NPV @ 10%, and equilibrium steady state (headline).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Rock Weathering — public &amp; private returns in SSA</a:t>
            </a:r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Gebrekidan &amp; Chamberlin (2026)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data layers behind every pixel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58952" y="175564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58952" y="20116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SoilGrids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58952" y="24231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pH, ECEC, texture on cropland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79392" y="155448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35424" y="175564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35424" y="20116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SPAM v2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35424" y="24231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crop distributions &amp; production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55864" y="155448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11896" y="175564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AGRONOMY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311896" y="20116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EcoCrop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11896" y="24231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pH-suitability response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090672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58952" y="32918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FEEDSTOCK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58952" y="354787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GLiM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58952" y="395935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basalt source geology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79392" y="3090672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35424" y="32918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35424" y="354787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 friction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535424" y="395935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travel-time delivered-cost surface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055864" y="3090672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311896" y="32918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311896" y="354787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WorldClim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311896" y="395935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&amp; moisture for weathering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" y="4626864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58952" y="482803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58952" y="5084064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FAOSTAT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58952" y="5495544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2016–20 producer-price medians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279392" y="4626864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535424" y="482803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REQ.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35424" y="5084064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LiTAS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4535424" y="5495544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lime-equivalent dose (targeting)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055864" y="4626864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8311896" y="482803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CARBONATE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311896" y="5084064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Merlos / Kamprath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8311896" y="5495544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acidity sink for net-export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Rock Weathering — public &amp; private returns in SSA</a:t>
            </a:r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Gebrekidan &amp; Chamberlin (2026)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8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26974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assumption sets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74904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B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modeling choices govern every result: delivered cost, carbon price, net-export CDR accounting, an over-liming private penalty, and kinetic weathering saturation.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 1 · DELIVERED COST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is dominated by transport — a real lever</a:t>
            </a:r>
            <a:endParaRPr lang="en-US" sz="2900" dirty="0"/>
          </a:p>
        </p:txBody>
      </p:sp>
      <p:pic>
        <p:nvPicPr>
          <p:cNvPr id="4" name="Image 0" descr="img/delivered_cost_saving_solar2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0" y="1508760"/>
            <a:ext cx="5394960" cy="4297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600200"/>
            <a:ext cx="5623560" cy="960120"/>
          </a:xfrm>
          <a:prstGeom prst="roundRect">
            <a:avLst>
              <a:gd name="adj" fmla="val 7619"/>
            </a:avLst>
          </a:prstGeom>
          <a:solidFill>
            <a:srgbClr val="FBF3EC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13232" y="1691640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Decomposed cost
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C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Grinding + feedstock + freight + spreading + MRV, built up per pixel from the friction surface.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02920" y="2660904"/>
            <a:ext cx="5623560" cy="960120"/>
          </a:xfrm>
          <a:prstGeom prst="roundRect">
            <a:avLst>
              <a:gd name="adj" fmla="val 7619"/>
            </a:avLst>
          </a:prstGeom>
          <a:solidFill>
            <a:srgbClr val="FBF3EC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3232" y="2752344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binds
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C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cost rises steeply with travel time; remote acid soils are priced out even where agronomy is strong.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02920" y="3721608"/>
            <a:ext cx="5623560" cy="960120"/>
          </a:xfrm>
          <a:prstGeom prst="roundRect">
            <a:avLst>
              <a:gd name="adj" fmla="val 7619"/>
            </a:avLst>
          </a:prstGeom>
          <a:solidFill>
            <a:srgbClr val="FBF3EC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13232" y="3813048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solar lever
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C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Electrified / solar-assisted haulage cuts variable transport cost; a ~25–40% reduction visibly expands the viable frontier.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02920" y="4782312"/>
            <a:ext cx="5623560" cy="960120"/>
          </a:xfrm>
          <a:prstGeom prst="roundRect">
            <a:avLst>
              <a:gd name="adj" fmla="val 7619"/>
            </a:avLst>
          </a:prstGeom>
          <a:solidFill>
            <a:srgbClr val="FBF3EC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13232" y="4873752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MRV
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C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per-tonne monitoring cost m is netted from the carbon price (see Assumption 2).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Rock Weathering — public &amp; private returns in SSA</a:t>
            </a:r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Gebrekidan &amp; Chamberlin (2026)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 2 · CARBON PRICE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carbon return uses a net VCM price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EFF4F8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7830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6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pPr indent="0" marL="0">
              <a:buNone/>
            </a:pPr>
            <a:r>
              <a:rPr lang="en-US" sz="1200" dirty="0">
                <a:solidFill>
                  <a:srgbClr val="1C6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CDR</a:t>
            </a:r>
            <a:pPr indent="0" marL="0">
              <a:buNone/>
            </a:pPr>
            <a:r>
              <a:rPr lang="en-US" sz="19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durable CDR  ×  ( p − m 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331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VCM carbon price ($/tCO₂)    ·    m = per-tonne MRV cost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310896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today’s price is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6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$150/tCO₂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but we sweep a full price ladder — price is one of the three levers that move the public envelope (Results).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508760"/>
            <a:ext cx="54864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0" y="16459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envelope grows with price  (equilibrium, targeted)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103120"/>
          <a:ext cx="51206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371600"/>
                <a:gridCol w="128016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$/tCO₂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6B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Mha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6B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treated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6B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Durable CDR (Mt)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6BA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8.76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6400800" y="50749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$150 the durable public envelope is 1.65 Mha (9.4% of treated cropland); it only becomes large at prices well above today’s.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Rock Weathering — public &amp; private returns in SSA</a:t>
            </a:r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Gebrekidan &amp; Chamberlin (2026)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 3 · NET-EXPORT CDR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Credit only carbon that is durably exported</a:t>
            </a:r>
            <a:endParaRPr lang="en-US" sz="2900" dirty="0"/>
          </a:p>
        </p:txBody>
      </p:sp>
      <p:pic>
        <p:nvPicPr>
          <p:cNvPr id="4" name="Image 0" descr="img/netexport_cdr_gradient_npv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3566160"/>
            <a:ext cx="6949440" cy="2651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463040"/>
            <a:ext cx="6949440" cy="1965960"/>
          </a:xfrm>
          <a:prstGeom prst="roundRect">
            <a:avLst>
              <a:gd name="adj" fmla="val 3721"/>
            </a:avLst>
          </a:prstGeom>
          <a:solidFill>
            <a:srgbClr val="EFF4F8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600200"/>
            <a:ext cx="6492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CDR  =  max( gross CDR  −  F · S ,  0 )
</a:t>
            </a:r>
            <a:pPr indent="0" marL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0.88 tCO₂ per tCaCO₂-eq    ·    S = acidity sink (standing / maintenance)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2514600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3C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Alkalinity spent neutralizing soil acidity re-releases its CO₂ — exactly as agricultural lime does — so it must be deducted. A first-order sequential bound.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680960" y="1463040"/>
            <a:ext cx="4023360" cy="4754880"/>
          </a:xfrm>
          <a:prstGeom prst="roundRect">
            <a:avLst>
              <a:gd name="adj" fmla="val 1818"/>
            </a:avLst>
          </a:prstGeom>
          <a:solidFill>
            <a:srgbClr val="14232B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909560" y="1645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8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909560" y="2148840"/>
            <a:ext cx="35661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80%
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CB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credited removal is cut at first application once acidity neutralization is netted out.
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CB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removal is largely a </a:t>
            </a:r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steady-state phenomenon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CB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which is why the headline uses the equilibrium regime.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Rock Weathering — public &amp; private returns in SSA</a:t>
            </a:r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Gebrekidan &amp; Chamberlin (2026)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 4 · OVER-LIMING PENALTY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 much alkalinity can depress yield</a:t>
            </a:r>
            <a:endParaRPr lang="en-US" sz="2900" dirty="0"/>
          </a:p>
        </p:txBody>
      </p:sp>
      <p:pic>
        <p:nvPicPr>
          <p:cNvPr id="4" name="Image 0" descr="img/overliming_sensitivit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0" y="1600200"/>
            <a:ext cx="5669280" cy="3566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600200"/>
            <a:ext cx="5486400" cy="1078992"/>
          </a:xfrm>
          <a:prstGeom prst="roundRect">
            <a:avLst>
              <a:gd name="adj" fmla="val 6780"/>
            </a:avLst>
          </a:prstGeom>
          <a:solidFill>
            <a:srgbClr val="FBF3EC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13232" y="16916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
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C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lime requirement, pH is pushed past the crop optimum; the EcoCrop response applies a yield haircut at the post-application pH.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02920" y="2770632"/>
            <a:ext cx="5486400" cy="1078992"/>
          </a:xfrm>
          <a:prstGeom prst="roundRect">
            <a:avLst>
              <a:gd name="adj" fmla="val 6780"/>
            </a:avLst>
          </a:prstGeom>
          <a:solidFill>
            <a:srgbClr val="FBF3EC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3232" y="2862072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Buffered shift
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C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change is damped by soil buffering (β = kβ·ECEC); reacted alkalinity A = gross CDR / F.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02920" y="3941064"/>
            <a:ext cx="5486400" cy="1078992"/>
          </a:xfrm>
          <a:prstGeom prst="roundRect">
            <a:avLst>
              <a:gd name="adj" fmla="val 6780"/>
            </a:avLst>
          </a:prstGeom>
          <a:solidFill>
            <a:srgbClr val="FBF3EC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13232" y="4032504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
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C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Concentrated on high uniform doses. Central estimate trims the targeted private return only modestly (4.31 → 4.02 Mha, −7%).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" y="5111496"/>
            <a:ext cx="5486400" cy="1078992"/>
          </a:xfrm>
          <a:prstGeom prst="roundRect">
            <a:avLst>
              <a:gd name="adj" fmla="val 6780"/>
            </a:avLst>
          </a:prstGeom>
          <a:solidFill>
            <a:srgbClr val="FBF3EC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13232" y="5202936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
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C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low–high band over (kβ, realized-alkalinity) is carried — the uniform-50 case is where it bites hardest.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Rock Weathering — public &amp; private returns in SSA</a:t>
            </a:r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Gebrekidan &amp; Chamberlin (2026)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 5 · KINETIC SATURATION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Weathering reacts less-than-linearly with dose</a:t>
            </a:r>
            <a:endParaRPr lang="en-US" sz="2900" dirty="0"/>
          </a:p>
        </p:txBody>
      </p:sp>
      <p:pic>
        <p:nvPicPr>
          <p:cNvPr id="4" name="Image 0" descr="img/kinetic_satur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3657600"/>
            <a:ext cx="11155680" cy="2560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463040"/>
            <a:ext cx="5486400" cy="2011680"/>
          </a:xfrm>
          <a:prstGeom prst="roundRect">
            <a:avLst>
              <a:gd name="adj" fmla="val 3636"/>
            </a:avLst>
          </a:prstGeom>
          <a:solidFill>
            <a:srgbClr val="EFF4F8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13232" y="16002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sat(D)  =  ( K</a:t>
            </a:r>
            <a:pPr indent="0" marL="0">
              <a:buNone/>
            </a:pPr>
            <a:r>
              <a:rPr lang="en-US" sz="11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pPr indent="0" marL="0">
              <a:buNone/>
            </a:pPr>
            <a:r>
              <a:rPr lang="en-US" sz="17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+ 50 ) / ( K</a:t>
            </a:r>
            <a:pPr indent="0" marL="0">
              <a:buNone/>
            </a:pPr>
            <a:r>
              <a:rPr lang="en-US" sz="11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pPr indent="0" marL="0">
              <a:buNone/>
            </a:pPr>
            <a:r>
              <a:rPr lang="en-US" sz="17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D )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13232" y="2148840"/>
            <a:ext cx="5074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3C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reacted tonnage saturates in applied dose D, normalized to the Lewis (2021) 50 t/ha reference (sat = 1 there). Reported as a band over Kd.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172200" y="1463040"/>
            <a:ext cx="5532120" cy="2011680"/>
          </a:xfrm>
          <a:prstGeom prst="roundRect">
            <a:avLst>
              <a:gd name="adj" fmla="val 3636"/>
            </a:avLst>
          </a:prstGeom>
          <a:solidFill>
            <a:srgbClr val="FBF3EC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382512" y="157276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382512" y="192024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3C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Saturation makes CDR concave in dose (giving an interior optimum), but it does not drive the public envelope to zero. Below the 50 t/ha reference, per-tonne reactivity is higher — so at targeted doses durable CDR actually rises. What binds the carbon case is MAC &gt; price, not kinetics.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Rock Weathering — public &amp; private returns in SSA</a:t>
            </a:r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Gebrekidan &amp; Chamberlin (2026)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SPACE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Temporal regimes × allocation rules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axes are swept alongside the assumption sets; the headline is equilibrium × targeted, net-export.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965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REGIMES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2331720"/>
            <a:ext cx="5486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" y="2441448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Year-1
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C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dose &amp; cost; durable CDR net of standing acidity. Most conservative on carbon.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3392424"/>
            <a:ext cx="5486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13232" y="3502152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 @ 10%
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C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Discounted stream of relief and durable removal.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4453128"/>
            <a:ext cx="5486400" cy="960120"/>
          </a:xfrm>
          <a:prstGeom prst="roundRect">
            <a:avLst>
              <a:gd name="adj" fmla="val 7619"/>
            </a:avLst>
          </a:prstGeom>
          <a:solidFill>
            <a:srgbClr val="E7F0EE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13232" y="4562856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Equilibrium
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C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Steady-state durable removal — the headline regime.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17920" y="1965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RULES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2331720"/>
            <a:ext cx="5486400" cy="1508760"/>
          </a:xfrm>
          <a:prstGeom prst="roundRect">
            <a:avLst>
              <a:gd name="adj" fmla="val 4848"/>
            </a:avLst>
          </a:prstGeom>
          <a:solidFill>
            <a:srgbClr val="E7F0EE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28232" y="2468880"/>
            <a:ext cx="5074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
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3C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LiTAS lime-equivalent dose — agronomically matched. Headline.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17920" y="4023360"/>
            <a:ext cx="54864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28232" y="4160520"/>
            <a:ext cx="5074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10 / 20 / 50 t/ha
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3C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rates — trace how CDR and over-liming scale with dose.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Rock Weathering — public &amp; private returns in SSA</a:t>
            </a:r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Gebrekidan &amp; Chamberlin (2026)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2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8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26974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74904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B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Envelopes and the combined-only band · durable carbon and marginal abatement cost · what shifts the public frontier · optimal rates · the robust core geography.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TYPOLOGY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five-way pixel classification</a:t>
            </a:r>
            <a:endParaRPr lang="en-US" sz="2900" dirty="0"/>
          </a:p>
        </p:txBody>
      </p:sp>
      <p:pic>
        <p:nvPicPr>
          <p:cNvPr id="4" name="Image 0" descr="img/env_typology_targeted_eqnx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0" y="1371600"/>
            <a:ext cx="5029200" cy="4846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554480"/>
            <a:ext cx="59436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85800" y="1810512"/>
            <a:ext cx="329184" cy="329184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7" name="Text 4"/>
          <p:cNvSpPr/>
          <p:nvPr/>
        </p:nvSpPr>
        <p:spPr>
          <a:xfrm>
            <a:off x="1188720" y="1554480"/>
            <a:ext cx="5120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Private-sufficient   </a:t>
            </a:r>
            <a:pPr indent="0" marL="0">
              <a:buNone/>
            </a:pPr>
            <a:r>
              <a:rPr lang="en-US" sz="12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R_agro − C &gt; 0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02920" y="2487168"/>
            <a:ext cx="59436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85800" y="2743200"/>
            <a:ext cx="329184" cy="329184"/>
          </a:xfrm>
          <a:prstGeom prst="ellipse">
            <a:avLst/>
          </a:prstGeom>
          <a:solidFill>
            <a:srgbClr val="1C6BA0"/>
          </a:solidFill>
          <a:ln/>
        </p:spPr>
      </p:sp>
      <p:sp>
        <p:nvSpPr>
          <p:cNvPr id="10" name="Text 7"/>
          <p:cNvSpPr/>
          <p:nvPr/>
        </p:nvSpPr>
        <p:spPr>
          <a:xfrm>
            <a:off x="1188720" y="2487168"/>
            <a:ext cx="5120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Public-sufficient   </a:t>
            </a:r>
            <a:pPr indent="0" marL="0">
              <a:buNone/>
            </a:pPr>
            <a:r>
              <a:rPr lang="en-US" sz="12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R_CDR − C &gt; 0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02920" y="3419856"/>
            <a:ext cx="59436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85800" y="3675888"/>
            <a:ext cx="329184" cy="329184"/>
          </a:xfrm>
          <a:prstGeom prst="ellipse">
            <a:avLst/>
          </a:prstGeom>
          <a:solidFill>
            <a:srgbClr val="0F6E63"/>
          </a:solidFill>
          <a:ln/>
        </p:spPr>
      </p:sp>
      <p:sp>
        <p:nvSpPr>
          <p:cNvPr id="13" name="Text 10"/>
          <p:cNvSpPr/>
          <p:nvPr/>
        </p:nvSpPr>
        <p:spPr>
          <a:xfrm>
            <a:off x="1188720" y="3419856"/>
            <a:ext cx="5120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   </a:t>
            </a:r>
            <a:pPr indent="0" marL="0">
              <a:buNone/>
            </a:pPr>
            <a:r>
              <a:rPr lang="en-US" sz="12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hold at the same pixel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502920" y="4352544"/>
            <a:ext cx="59436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85800" y="4608576"/>
            <a:ext cx="329184" cy="329184"/>
          </a:xfrm>
          <a:prstGeom prst="ellipse">
            <a:avLst/>
          </a:prstGeom>
          <a:solidFill>
            <a:srgbClr val="E8843C"/>
          </a:solidFill>
          <a:ln/>
        </p:spPr>
      </p:sp>
      <p:sp>
        <p:nvSpPr>
          <p:cNvPr id="16" name="Text 13"/>
          <p:cNvSpPr/>
          <p:nvPr/>
        </p:nvSpPr>
        <p:spPr>
          <a:xfrm>
            <a:off x="1188720" y="4352544"/>
            <a:ext cx="5120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Combined-only   </a:t>
            </a:r>
            <a:pPr indent="0" marL="0">
              <a:buNone/>
            </a:pPr>
            <a:r>
              <a:rPr lang="en-US" sz="12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alone, but GM &gt; 0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502920" y="5285232"/>
            <a:ext cx="59436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85800" y="5541264"/>
            <a:ext cx="329184" cy="329184"/>
          </a:xfrm>
          <a:prstGeom prst="ellipse">
            <a:avLst/>
          </a:prstGeom>
          <a:solidFill>
            <a:srgbClr val="8794A0"/>
          </a:solidFill>
          <a:ln/>
        </p:spPr>
      </p:sp>
      <p:sp>
        <p:nvSpPr>
          <p:cNvPr id="19" name="Text 16"/>
          <p:cNvSpPr/>
          <p:nvPr/>
        </p:nvSpPr>
        <p:spPr>
          <a:xfrm>
            <a:off x="1188720" y="5285232"/>
            <a:ext cx="5120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  </a:t>
            </a:r>
            <a:pPr indent="0" marL="0">
              <a:buNone/>
            </a:pPr>
            <a:r>
              <a:rPr lang="en-US" sz="12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 ≤ 0 — not deployable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Rock Weathering — public &amp; private returns in SSA</a:t>
            </a:r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Gebrekidan &amp; Chamberlin (2026)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PRIVATE ENVELOPE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yield alone pays</a:t>
            </a:r>
            <a:endParaRPr lang="en-US" sz="2900" dirty="0"/>
          </a:p>
        </p:txBody>
      </p:sp>
      <p:pic>
        <p:nvPicPr>
          <p:cNvPr id="4" name="Image 0" descr="img/env_private_targeted_eqnx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0" y="1371600"/>
            <a:ext cx="5029200" cy="4846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50876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where the agronomic return covers the full delivered cost with no carbon credit at all.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02920" y="2377440"/>
            <a:ext cx="2788920" cy="1417320"/>
          </a:xfrm>
          <a:prstGeom prst="roundRect">
            <a:avLst>
              <a:gd name="adj" fmla="val 5161"/>
            </a:avLst>
          </a:prstGeom>
          <a:solidFill>
            <a:srgbClr val="F1F7F1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94360" y="25603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4.3 Mha</a:t>
            </a:r>
            <a:endParaRPr lang="en-US" sz="3300" dirty="0"/>
          </a:p>
        </p:txBody>
      </p:sp>
      <p:sp>
        <p:nvSpPr>
          <p:cNvPr id="8" name="Text 5"/>
          <p:cNvSpPr/>
          <p:nvPr/>
        </p:nvSpPr>
        <p:spPr>
          <a:xfrm>
            <a:off x="594360" y="32461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private-sufficient area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520440" y="2377440"/>
            <a:ext cx="2788920" cy="1417320"/>
          </a:xfrm>
          <a:prstGeom prst="roundRect">
            <a:avLst>
              <a:gd name="adj" fmla="val 5161"/>
            </a:avLst>
          </a:prstGeom>
          <a:solidFill>
            <a:srgbClr val="F1F7F1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611880" y="25603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$3.5 B</a:t>
            </a:r>
            <a:endParaRPr lang="en-US" sz="3300" dirty="0"/>
          </a:p>
        </p:txBody>
      </p:sp>
      <p:sp>
        <p:nvSpPr>
          <p:cNvPr id="11" name="Text 8"/>
          <p:cNvSpPr/>
          <p:nvPr/>
        </p:nvSpPr>
        <p:spPr>
          <a:xfrm>
            <a:off x="3611880" y="32461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return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2920" y="4069080"/>
            <a:ext cx="5806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largest single envelope under the targeted dose. 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it is a minority of acid cropland — most viable land needs more than yield to pencil.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Rock Weathering — public &amp; private returns in SSA</a:t>
            </a:r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Gebrekidan &amp; Chamberlin (2026)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6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PUBLIC ENVELOPE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carbon alone pays (durably)</a:t>
            </a:r>
            <a:endParaRPr lang="en-US" sz="2900" dirty="0"/>
          </a:p>
        </p:txBody>
      </p:sp>
      <p:pic>
        <p:nvPicPr>
          <p:cNvPr id="4" name="Image 0" descr="img/env_public_targeted_eqnx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0" y="1371600"/>
            <a:ext cx="5029200" cy="4846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50876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where durable, net-export CDR at $150/tCO₂ covers cost with no yield benefit.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02920" y="2377440"/>
            <a:ext cx="2788920" cy="1417320"/>
          </a:xfrm>
          <a:prstGeom prst="roundRect">
            <a:avLst>
              <a:gd name="adj" fmla="val 5161"/>
            </a:avLst>
          </a:prstGeom>
          <a:solidFill>
            <a:srgbClr val="EFF4F8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94360" y="25603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1C6B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1.7 Mha</a:t>
            </a:r>
            <a:endParaRPr lang="en-US" sz="3300" dirty="0"/>
          </a:p>
        </p:txBody>
      </p:sp>
      <p:sp>
        <p:nvSpPr>
          <p:cNvPr id="8" name="Text 5"/>
          <p:cNvSpPr/>
          <p:nvPr/>
        </p:nvSpPr>
        <p:spPr>
          <a:xfrm>
            <a:off x="594360" y="32461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public area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520440" y="2377440"/>
            <a:ext cx="2788920" cy="1417320"/>
          </a:xfrm>
          <a:prstGeom prst="roundRect">
            <a:avLst>
              <a:gd name="adj" fmla="val 5161"/>
            </a:avLst>
          </a:prstGeom>
          <a:solidFill>
            <a:srgbClr val="EFF4F8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611880" y="25603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1C6B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9.4%</a:t>
            </a:r>
            <a:endParaRPr lang="en-US" sz="3300" dirty="0"/>
          </a:p>
        </p:txBody>
      </p:sp>
      <p:sp>
        <p:nvSpPr>
          <p:cNvPr id="11" name="Text 8"/>
          <p:cNvSpPr/>
          <p:nvPr/>
        </p:nvSpPr>
        <p:spPr>
          <a:xfrm>
            <a:off x="3611880" y="32461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treated cropland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2920" y="4069080"/>
            <a:ext cx="5806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than the private envelope, and price-conditional. 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Net-export accounting and today’s VCM price keep the carbon-only case tightly bound — the reason the combined case matters.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Rock Weathering — public &amp; private returns in SSA</a:t>
            </a:r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Gebrekidan &amp; Chamberlin (2026)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THE CENTRAL RESULT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combined-only band is the policy object</a:t>
            </a:r>
            <a:endParaRPr lang="en-US" sz="2900" dirty="0"/>
          </a:p>
        </p:txBody>
      </p:sp>
      <p:pic>
        <p:nvPicPr>
          <p:cNvPr id="4" name="Image 0" descr="img/env_intersection_targeted_eqnx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0" y="1371600"/>
            <a:ext cx="5029200" cy="4846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463040"/>
            <a:ext cx="5943600" cy="1691640"/>
          </a:xfrm>
          <a:prstGeom prst="roundRect">
            <a:avLst>
              <a:gd name="adj" fmla="val 4324"/>
            </a:avLst>
          </a:prstGeom>
          <a:solidFill>
            <a:srgbClr val="14232B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64592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8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 Mha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combined-only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731520" y="246888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B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the yield return nor the carbon return alone covers cost — yet together the margin is positive.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02920" y="3337560"/>
            <a:ext cx="18745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02920" y="34747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4.3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594360" y="40233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(Mha)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542032" y="3337560"/>
            <a:ext cx="18745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542032" y="34747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1.7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2633472" y="40233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(Mha)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572000" y="3337560"/>
            <a:ext cx="18745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572000" y="34747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6.9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663440" y="40233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(Mha)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02920" y="4663440"/>
            <a:ext cx="594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E88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economic point:  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voluntary carbon finance is not a bonus on an already-profitable practice — it is the marginal revenue that unlocks an otherwise-unprofitable, yield-improving investment.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Rock Weathering — public &amp; private returns in SSA</a:t>
            </a:r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Gebrekidan &amp; Chamberlin (2026)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6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WHAT BINDS THE CARBON CASE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Marginal abatement cost, not kinetics</a:t>
            </a:r>
            <a:endParaRPr lang="en-US" sz="2900" dirty="0"/>
          </a:p>
        </p:txBody>
      </p:sp>
      <p:pic>
        <p:nvPicPr>
          <p:cNvPr id="4" name="Image 0" descr="img/mac_targeted_eqnx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0" y="1463040"/>
            <a:ext cx="5120640" cy="4206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508760"/>
            <a:ext cx="5760720" cy="1371600"/>
          </a:xfrm>
          <a:prstGeom prst="roundRect">
            <a:avLst>
              <a:gd name="adj" fmla="val 5333"/>
            </a:avLst>
          </a:prstGeom>
          <a:solidFill>
            <a:srgbClr val="14232B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64592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$446</a:t>
            </a:r>
            <a:pPr indent="0" marL="0">
              <a:buNone/>
            </a:pPr>
            <a:r>
              <a:rPr lang="en-US" sz="2000" dirty="0">
                <a:solidFill>
                  <a:srgbClr val="9FB2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 tCO₂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31520" y="233172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B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marginal abatement cost — well above today’s $150 VCM price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306324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3C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 =  delivered cost per tonne of rock  ÷  durable CDR per tonne.  The public envelope is exactly the land where MAC &lt; net price (p − m).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02920" y="4069080"/>
            <a:ext cx="5760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carbon case is limited by </a:t>
            </a:r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C6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CO₂ a tonne of rock verifiably removes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largest and least-resolved lever, and the clear field-calibration priority.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Rock Weathering — public &amp; private returns in SSA</a:t>
            </a:r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Gebrekidan &amp; Chamberlin (2026)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6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THREE LEVERS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shifts the public envelope outward</a:t>
            </a:r>
            <a:endParaRPr lang="en-US" sz="2900" dirty="0"/>
          </a:p>
        </p:txBody>
      </p:sp>
      <p:pic>
        <p:nvPicPr>
          <p:cNvPr id="4" name="Image 0" descr="img/public_area_vs_pri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75120" y="1737360"/>
            <a:ext cx="5029200" cy="3566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600200"/>
            <a:ext cx="5760720" cy="1371600"/>
          </a:xfrm>
          <a:prstGeom prst="roundRect">
            <a:avLst>
              <a:gd name="adj" fmla="val 5333"/>
            </a:avLst>
          </a:prstGeom>
          <a:solidFill>
            <a:srgbClr val="EFF4F8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85800" y="2011680"/>
            <a:ext cx="548640" cy="548640"/>
          </a:xfrm>
          <a:prstGeom prst="ellipse">
            <a:avLst/>
          </a:prstGeom>
          <a:solidFill>
            <a:srgbClr val="1C6BA0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417320" y="173736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VCM price (p)
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3C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area climbs from 2% of treated cropland at $100 to ~50% at $500. The most direct lever.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02920" y="3081528"/>
            <a:ext cx="5760720" cy="1371600"/>
          </a:xfrm>
          <a:prstGeom prst="roundRect">
            <a:avLst>
              <a:gd name="adj" fmla="val 5333"/>
            </a:avLst>
          </a:prstGeom>
          <a:solidFill>
            <a:srgbClr val="EFF4F8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85800" y="3493008"/>
            <a:ext cx="548640" cy="548640"/>
          </a:xfrm>
          <a:prstGeom prst="ellipse">
            <a:avLst/>
          </a:prstGeom>
          <a:solidFill>
            <a:srgbClr val="1C6BA0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" y="34930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417320" y="3218688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delivered cost (C)
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3C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Transport-cost reductions (e.g. solar haulage) lower MAC pixel-by-pixel — see Assumption 1.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02920" y="4562856"/>
            <a:ext cx="5760720" cy="1371600"/>
          </a:xfrm>
          <a:prstGeom prst="roundRect">
            <a:avLst>
              <a:gd name="adj" fmla="val 5333"/>
            </a:avLst>
          </a:prstGeom>
          <a:solidFill>
            <a:srgbClr val="EFF4F8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85800" y="4974336"/>
            <a:ext cx="548640" cy="548640"/>
          </a:xfrm>
          <a:prstGeom prst="ellipse">
            <a:avLst/>
          </a:prstGeom>
          <a:solidFill>
            <a:srgbClr val="1C6BA0"/>
          </a:solidFill>
          <a:ln/>
        </p:spPr>
      </p:sp>
      <p:sp>
        <p:nvSpPr>
          <p:cNvPr id="15" name="Text 12"/>
          <p:cNvSpPr/>
          <p:nvPr/>
        </p:nvSpPr>
        <p:spPr>
          <a:xfrm>
            <a:off x="685800" y="49743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417320" y="4700016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durable CDR per tonne
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3C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 verified removal per tonne of rock cuts MAC directly. Kinetic saturation is second-order here.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Rock Weathering — public &amp; private returns in SSA</a:t>
            </a:r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Gebrekidan &amp; Chamberlin (2026)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OPTIMAL APPLICATION RATES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objective has an interior optimum</a:t>
            </a:r>
            <a:endParaRPr lang="en-US" sz="2900" dirty="0"/>
          </a:p>
        </p:txBody>
      </p:sp>
      <p:pic>
        <p:nvPicPr>
          <p:cNvPr id="4" name="Image 0" descr="img/optrate_pane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508760"/>
            <a:ext cx="11155680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5303520"/>
            <a:ext cx="11155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both refinements, each per-pixel objective is concave — so a pixel-specific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rate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exists for the private, public, and combined margins. The combined optimum is moderate (typically well below blanket-high uniform doses): enough over-application to earn extra carbon, but not so much that over-liming and saturation erode the return.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Rock Weathering — public &amp; private returns in SSA</a:t>
            </a:r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Gebrekidan &amp; Chamberlin (2026)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ROBUST CORE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defensible priority geography</a:t>
            </a:r>
            <a:endParaRPr lang="en-US" sz="2900" dirty="0"/>
          </a:p>
        </p:txBody>
      </p:sp>
      <p:pic>
        <p:nvPicPr>
          <p:cNvPr id="4" name="Image 0" descr="img/core_priorit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0" y="1371600"/>
            <a:ext cx="5029200" cy="4846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50876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Intersecting the envelope across the plausible parameter grid isolates land that stays viable under most assumptions.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02920" y="2514600"/>
            <a:ext cx="5760720" cy="914400"/>
          </a:xfrm>
          <a:prstGeom prst="roundRect">
            <a:avLst>
              <a:gd name="adj" fmla="val 8000"/>
            </a:avLst>
          </a:prstGeom>
          <a:solidFill>
            <a:srgbClr val="E7F0EE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0080" y="2679192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6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~0.8 Mha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2834640" y="25146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core-priority cropland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02920" y="3566160"/>
            <a:ext cx="5760720" cy="914400"/>
          </a:xfrm>
          <a:prstGeom prst="roundRect">
            <a:avLst>
              <a:gd name="adj" fmla="val 8000"/>
            </a:avLst>
          </a:prstGeom>
          <a:solidFill>
            <a:srgbClr val="E7F0EE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0080" y="3730752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6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~0.5 M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2834640" y="35661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farms reached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02920" y="4617720"/>
            <a:ext cx="5760720" cy="914400"/>
          </a:xfrm>
          <a:prstGeom prst="roundRect">
            <a:avLst>
              <a:gd name="adj" fmla="val 8000"/>
            </a:avLst>
          </a:prstGeom>
          <a:solidFill>
            <a:srgbClr val="E7F0EE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40080" y="4782312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6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~$0.75 B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2834640" y="46177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value at stake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502920" y="566928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geography one would deploy first — and the base to expand as price rises or cost falls.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Rock Weathering — public &amp; private returns in SSA</a:t>
            </a:r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Gebrekidan &amp; Chamberlin (2026)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2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8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0515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ERW is a coupled agronomic-and-carbon proposition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457200" cy="457200"/>
          </a:xfrm>
          <a:prstGeom prst="ellipse">
            <a:avLst/>
          </a:prstGeom>
          <a:solidFill>
            <a:srgbClr val="E8843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463040" y="2075688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returns rarely each suffice alone
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AEC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together they make a meaningful area of SSA cropland profitable that neither would — the 2.1 Mha combined-only band.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3227832"/>
            <a:ext cx="457200" cy="457200"/>
          </a:xfrm>
          <a:prstGeom prst="ellipse">
            <a:avLst/>
          </a:prstGeom>
          <a:solidFill>
            <a:srgbClr val="E8843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227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463040" y="31546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finance is the margin, not a bonus
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AEC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most viable land, VCM revenue is what unlocks a yield-improving investment. That reframes ERW away from a pure CDR supply curve.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4306824"/>
            <a:ext cx="457200" cy="457200"/>
          </a:xfrm>
          <a:prstGeom prst="ellipse">
            <a:avLst/>
          </a:prstGeom>
          <a:solidFill>
            <a:srgbClr val="E8843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306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463040" y="4233672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binding constraint is durable CDR per tonne
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AEC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Net-export accounting cuts first-application removal ~80%; median MAC is $446. Price, delivered cost, and verified removal are the three levers.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" y="5385816"/>
            <a:ext cx="457200" cy="457200"/>
          </a:xfrm>
          <a:prstGeom prst="ellipse">
            <a:avLst/>
          </a:prstGeom>
          <a:solidFill>
            <a:srgbClr val="E8843C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5385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463040" y="5312664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it as coupled changes the answer
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AEC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changes both where to deploy first (the robust core) and what to invest in to expand it (field calibration of removal).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Caveats and where we go next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1947672"/>
            <a:ext cx="5074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Priorities
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3C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calibration of durable removal per tonne is the single highest-value input — it sets MAC and the whole public case.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32004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3232" y="3319272"/>
            <a:ext cx="5074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modeled
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3C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and who finances the upfront cost, compaction / N₂O effects, and country-level credit eligibility (Article 6).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45720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13232" y="4690872"/>
            <a:ext cx="5074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counts
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3C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national average holding sizes — order-of-magnitude.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17920" y="1463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8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8288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FBF3EC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28232" y="1947672"/>
            <a:ext cx="5074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sweep
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3C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around the parameters that move results most — removal per tonne, price, delivered cost, kβ, Kd.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32004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FBF3EC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28232" y="3319272"/>
            <a:ext cx="5074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Optimal-rate maps
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3C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the pixel-specific private and combined optimal-rate maps into the manuscript.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17920" y="45720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FBF3EC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28232" y="4690872"/>
            <a:ext cx="5074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&amp; collaborate
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3C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erw-exante-v2 to GitHub for coauthor review; manuscript points to the repo.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Rock Weathering — public &amp; private returns in SSA</a:t>
            </a:r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Gebrekidan &amp; Chamberlin (2026)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Public and private returns to Enhanced Rock Weathering in SSA</dc:title>
  <dc:subject>PptxGenJS Presentation</dc:subject>
  <dc:creator>Gebrekidan &amp; Chamberlin</dc:creator>
  <cp:lastModifiedBy>Gebrekidan &amp; Chamberlin</cp:lastModifiedBy>
  <cp:revision>1</cp:revision>
  <dcterms:created xsi:type="dcterms:W3CDTF">2026-07-06T10:54:48Z</dcterms:created>
  <dcterms:modified xsi:type="dcterms:W3CDTF">2026-07-06T10:54:48Z</dcterms:modified>
</cp:coreProperties>
</file>