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2D3B48E-9B94-88E8-6D94-82ACFA3A520F}" name="Jordan Chamberlin" initials="JC" userId="abc02c09b6963d6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20"/>
    <p:restoredTop sz="70538"/>
  </p:normalViewPr>
  <p:slideViewPr>
    <p:cSldViewPr snapToGrid="0" snapToObjects="1">
      <p:cViewPr varScale="1">
        <p:scale>
          <a:sx n="106" d="100"/>
          <a:sy n="106" d="100"/>
        </p:scale>
        <p:origin x="12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9196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1. Reactive fraction (≈0.20) - biggest cut.</a:t>
            </a:r>
            <a:r>
              <a:rPr lang="en-US" dirty="0"/>
              <a:t> Crushed basalt does not fully dissolve within the crediting window; only about a fifth of the stoichiometric maximum actually weathers and releases alkalinity over the project horizon. This single factor removes ~80% of the ceiling and is the most load-bearing - and most scrutinized - assumption in the whole CDR chain. </a:t>
            </a:r>
            <a:r>
              <a:rPr lang="en-US" i="1" dirty="0"/>
              <a:t>Lewis et al. 2021 (Appl. Geochem. 132:105023)</a:t>
            </a:r>
            <a:r>
              <a:rPr lang="en-US" dirty="0"/>
              <a:t>, whose temperate mesocosm gives the 0.20 calibration.</a:t>
            </a:r>
          </a:p>
          <a:p>
            <a:r>
              <a:rPr lang="en-US" b="1" dirty="0"/>
              <a:t>2. Grain-size factor -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(100/d)^0.5</a:t>
            </a:r>
            <a:r>
              <a:rPr lang="en-US" b="1" dirty="0"/>
              <a:t>.</a:t>
            </a:r>
            <a:r>
              <a:rPr lang="en-US" dirty="0"/>
              <a:t> Reactivity scales with mineral surface area, so finer grinding weathers faster. It is referenced to 100 µm: coarser rock cuts the rate (a true haircut), finer rock raises it. Note the shipped default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 = 50 µm</a:t>
            </a:r>
            <a:r>
              <a:rPr lang="en-US" dirty="0"/>
              <a:t> actually makes this a </a:t>
            </a:r>
            <a:r>
              <a:rPr lang="en-US" i="1" dirty="0"/>
              <a:t>multiplier of ~1.41</a:t>
            </a:r>
            <a:r>
              <a:rPr lang="en-US" dirty="0"/>
              <a:t>, not a cut - so at the current setting it boosts reactivity. The exponent 0.5 (square-root-of-surface-area) and the grinding-energy cost that trades off against it come from </a:t>
            </a:r>
            <a:r>
              <a:rPr lang="en-US" i="1" dirty="0" err="1"/>
              <a:t>Strefler</a:t>
            </a:r>
            <a:r>
              <a:rPr lang="en-US" i="1" dirty="0"/>
              <a:t> et al. 2018 (ERL 13:034010)</a:t>
            </a:r>
            <a:r>
              <a:rPr lang="en-US" dirty="0"/>
              <a:t>, with grain sensitivity also in </a:t>
            </a:r>
            <a:r>
              <a:rPr lang="en-US" i="1" dirty="0"/>
              <a:t>Lewis et al. 2021</a:t>
            </a:r>
            <a:r>
              <a:rPr lang="en-US" dirty="0"/>
              <a:t>.</a:t>
            </a:r>
          </a:p>
          <a:p>
            <a:r>
              <a:rPr lang="en-US" b="1" dirty="0"/>
              <a:t>3. Climate factor -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f_MAT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×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f_MAP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×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f_pH</a:t>
            </a:r>
            <a:r>
              <a:rPr lang="en-US" b="1" dirty="0"/>
              <a:t>.</a:t>
            </a:r>
            <a:r>
              <a:rPr lang="en-US" dirty="0"/>
              <a:t> Three sub-terms, each able to push reactivity up or down relative to the temperate reference site:</a:t>
            </a:r>
          </a:p>
          <a:p>
            <a:r>
              <a:rPr lang="en-US" b="1" dirty="0"/>
              <a:t>Temperature: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clamp(MAT / 11 °C, 0.3, 3)</a:t>
            </a:r>
            <a:r>
              <a:rPr lang="en-US" dirty="0"/>
              <a:t> - warm soils weather faster.</a:t>
            </a:r>
          </a:p>
          <a:p>
            <a:r>
              <a:rPr lang="en-US" b="1" dirty="0"/>
              <a:t>Moisture: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clamp(MAP / 1000 mm, 0.3, 3)</a:t>
            </a:r>
            <a:r>
              <a:rPr lang="en-US" dirty="0"/>
              <a:t> - wet soils weather faster.</a:t>
            </a:r>
          </a:p>
          <a:p>
            <a:r>
              <a:rPr lang="en-US" b="1" dirty="0"/>
              <a:t>Soil pH:</a:t>
            </a:r>
            <a:r>
              <a:rPr lang="en-US" dirty="0"/>
              <a:t> a triangular curve peaking near pH 5 - acid-catalyzed dissolution is fastest in moderately acidic soil and falls off in both very acidic and calcareous soils.</a:t>
            </a:r>
          </a:p>
          <a:p>
            <a:r>
              <a:rPr lang="en-US" dirty="0"/>
              <a:t>A hot, wet, acidic tropical pixel can roughly triple the reference reactivity (before the overall cap at 1); a cold, dry, alkaline one cuts it. </a:t>
            </a:r>
            <a:r>
              <a:rPr lang="en-US" i="1" dirty="0"/>
              <a:t>Kanzaki et al. 2023 (PNAS Nexus 2:pgad059)</a:t>
            </a:r>
            <a:r>
              <a:rPr lang="en-US" dirty="0"/>
              <a:t> and </a:t>
            </a:r>
            <a:r>
              <a:rPr lang="en-US" i="1" dirty="0"/>
              <a:t>Baek et al. 2023 (Earth's Future 11)</a:t>
            </a:r>
            <a:r>
              <a:rPr lang="en-US" dirty="0"/>
              <a:t> for the climate dependence; the pH term rests on silicate-dissolution kinetics in </a:t>
            </a:r>
            <a:r>
              <a:rPr lang="en-US" i="1" dirty="0"/>
              <a:t>White &amp; Brantley 2003 (Chem. Geol. 202:479)</a:t>
            </a:r>
            <a:r>
              <a:rPr lang="en-US" dirty="0"/>
              <a:t> and </a:t>
            </a:r>
            <a:r>
              <a:rPr lang="en-US" i="1" dirty="0"/>
              <a:t>Brantley et al. 2008</a:t>
            </a:r>
            <a:r>
              <a:rPr lang="en-US" dirty="0"/>
              <a:t>. The parameter doc explicitly flags this factor as a v1 empirical proxy.</a:t>
            </a:r>
          </a:p>
          <a:p>
            <a:r>
              <a:rPr lang="en-US" b="1" dirty="0"/>
              <a:t>4. Exported fraction - 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(1 − </a:t>
            </a:r>
            <a:r>
              <a:rPr lang="en-US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p_ped</a:t>
            </a: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  <a:r>
              <a:rPr lang="en-US" b="1" dirty="0"/>
              <a:t>, the aridity haircut.</a:t>
            </a:r>
            <a:r>
              <a:rPr lang="en-US" dirty="0"/>
              <a:t> In dry soils a share of the released alkalinity re-precipitates locally as pedogenic carbonate (</a:t>
            </a:r>
            <a:r>
              <a:rPr lang="en-US" dirty="0" err="1"/>
              <a:t>CaCO</a:t>
            </a:r>
            <a:r>
              <a:rPr lang="en-US" dirty="0"/>
              <a:t>₃/</a:t>
            </a:r>
            <a:r>
              <a:rPr lang="en-US" dirty="0" err="1"/>
              <a:t>MgCO</a:t>
            </a:r>
            <a:r>
              <a:rPr lang="en-US" dirty="0"/>
              <a:t>₃), which re-emits the CO₂ instead of exporting it as bicarbonate. Only the exported share is durable CDR. The deduction is binned by aridity (90% lost in hyper-arid soils down to 0% in humid soils). </a:t>
            </a:r>
            <a:r>
              <a:rPr lang="en-US" i="1" dirty="0"/>
              <a:t>Renforth 2019 (Nat. Commun. 10:1401)</a:t>
            </a:r>
            <a:r>
              <a:rPr lang="en-US" dirty="0"/>
              <a:t>, </a:t>
            </a:r>
            <a:r>
              <a:rPr lang="en-US" i="1" dirty="0"/>
              <a:t>Kanzaki et al. 2023</a:t>
            </a:r>
            <a:r>
              <a:rPr lang="en-US" dirty="0"/>
              <a:t>, and </a:t>
            </a:r>
            <a:r>
              <a:rPr lang="en-US" i="1" dirty="0" err="1"/>
              <a:t>Reershemius</a:t>
            </a:r>
            <a:r>
              <a:rPr lang="en-US" i="1" dirty="0"/>
              <a:t> &amp; </a:t>
            </a:r>
            <a:r>
              <a:rPr lang="en-US" i="1" dirty="0" err="1"/>
              <a:t>Suhrhoff</a:t>
            </a:r>
            <a:r>
              <a:rPr lang="en-US" i="1" dirty="0"/>
              <a:t> 2024 (GCB 30:e17025)</a:t>
            </a:r>
            <a:r>
              <a:rPr lang="en-US" dirty="0"/>
              <a:t> for the uncertainty; aridity bands from </a:t>
            </a:r>
            <a:r>
              <a:rPr lang="en-US" i="1" dirty="0"/>
              <a:t>UNEP 1992</a:t>
            </a:r>
            <a:r>
              <a:rPr lang="en-US" dirty="0"/>
              <a:t>, keyed on the CGIAR aridity index of </a:t>
            </a:r>
            <a:r>
              <a:rPr lang="en-US" i="1" dirty="0"/>
              <a:t>Zomer et al. 2022 (Sci. Data 9:409)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CDR model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3A3A3A"/>
                </a:solidFill>
              </a:rPr>
              <a:t>For every ∼1 km² pixel: how much CO₂ does one tonne of crushed basalt durably remove here? A chemical ceiling is reduced by fractional “haircuts,” scaled by application rate, then netted against the project’s own emissions.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11064240" cy="868680"/>
          </a:xfrm>
          <a:prstGeom prst="rect">
            <a:avLst/>
          </a:prstGeom>
          <a:solidFill>
            <a:srgbClr val="F4F6F5"/>
          </a:solidFill>
          <a:ln w="12700">
            <a:solidFill>
              <a:srgbClr val="D9E1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444752"/>
            <a:ext cx="73152" cy="868680"/>
          </a:xfrm>
          <a:prstGeom prst="rect">
            <a:avLst/>
          </a:prstGeom>
          <a:solidFill>
            <a:srgbClr val="2C7A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5179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5F"/>
                </a:solidFill>
              </a:rPr>
              <a:t>1 · Chemical ceiling (stoichiometry)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810512"/>
            <a:ext cx="1066190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CDR_max = ( 0.10·(2·44.01/56.08)  +  0.07·(2·44.01/40.30) )·1000  ≈  310 kg CO₂ / t basalt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6B7775"/>
                </a:solidFill>
              </a:rPr>
              <a:t>CaO and MgO each consume 2 mol CO₂; basalt mass fractions 10% / 7%.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32304"/>
            <a:ext cx="11064240" cy="1481328"/>
          </a:xfrm>
          <a:prstGeom prst="rect">
            <a:avLst/>
          </a:prstGeom>
          <a:solidFill>
            <a:srgbClr val="F4F6F5"/>
          </a:solidFill>
          <a:ln w="12700">
            <a:solidFill>
              <a:srgbClr val="D9E1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432304"/>
            <a:ext cx="73152" cy="1481328"/>
          </a:xfrm>
          <a:prstGeom prst="rect">
            <a:avLst/>
          </a:prstGeom>
          <a:solidFill>
            <a:srgbClr val="2C7A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250545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5F"/>
                </a:solidFill>
              </a:rPr>
              <a:t>2–4 · Fractional haircuts (reactivity, grain, climate, pH, carbonate)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9808" y="2798064"/>
            <a:ext cx="1066190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CDR_per_t = CDR_max × 0.20 × (100/d)^0.5 × (f_MAT·f_MAP·f_pH) × (1 − p_ped)</a:t>
            </a:r>
            <a:endParaRPr lang="en-US" sz="1400" dirty="0"/>
          </a:p>
          <a:p>
            <a:pPr marL="0" indent="0">
              <a:buNone/>
            </a:pPr>
            <a:r>
              <a:rPr lang="en-US" sz="950" dirty="0">
                <a:solidFill>
                  <a:srgbClr val="6B77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reactive      grain        climate (capped)      exported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f_MAT = clamp(MAT/11°C, 0.3, 3)   f_MAP = clamp(MAP/1000mm, 0.3, 3)   f_pH = triangular, peak ≈ pH 5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1064240" cy="1627632"/>
          </a:xfrm>
          <a:prstGeom prst="rect">
            <a:avLst/>
          </a:prstGeom>
          <a:solidFill>
            <a:srgbClr val="F4F6F5"/>
          </a:solidFill>
          <a:ln w="12700">
            <a:solidFill>
              <a:srgbClr val="D9E1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73152" cy="1627632"/>
          </a:xfrm>
          <a:prstGeom prst="rect">
            <a:avLst/>
          </a:prstGeom>
          <a:solidFill>
            <a:srgbClr val="2C7A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409651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5F"/>
                </a:solidFill>
              </a:rPr>
              <a:t>5–7 · Yield, net of emissions, revenue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9808" y="4389120"/>
            <a:ext cx="106619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3A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CDR_gross = rate · CDR_per_t / 1000            (t CO₂ / ha)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A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CDR_net   = max(0,  CDR_gross − rate · LCA_per_t / 1000)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A3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   = CDR_net · (p_carbon − MRV)        NPV regime: × 0.79 (5-yr phasing)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779008"/>
            <a:ext cx="11064240" cy="713232"/>
          </a:xfrm>
          <a:prstGeom prst="rect">
            <a:avLst/>
          </a:prstGeom>
          <a:solidFill>
            <a:srgbClr val="2C7A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" y="5779008"/>
            <a:ext cx="10698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In short: chemistry sets the ceiling (∼310 kg/t); geography — temperature, rainfall, acidity, aridity — decides how much you actually capture (∼80 kg/t at the reference climate).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4E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references for methodology &amp; coefficients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53035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4E5F"/>
                </a:solidFill>
              </a:rPr>
              <a:t>Chemistry &amp; stoichiometry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</a:rPr>
              <a:t>Lewis et al. 2021, Appl. Geochem. 132:105023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</a:rPr>
              <a:t>Beerling et al. 2020, Nature 583:242 (SI)</a:t>
            </a:r>
            <a:endParaRPr lang="en-US" sz="1250" dirty="0"/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4E5F"/>
                </a:solidFill>
              </a:rPr>
              <a:t>Reactive fraction (0.20)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</a:rPr>
              <a:t>Lewis et al. 2021 — load-bearing calibration</a:t>
            </a:r>
            <a:endParaRPr lang="en-US" sz="1250" dirty="0"/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4E5F"/>
                </a:solidFill>
              </a:rPr>
              <a:t>Grain size &amp; grinding (β=0.5, α=1.2)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</a:rPr>
              <a:t>Strefler et al. 2018, ERL 13:034010</a:t>
            </a:r>
            <a:endParaRPr lang="en-US" sz="1250" dirty="0"/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4E5F"/>
                </a:solidFill>
              </a:rPr>
              <a:t>Climate scaling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</a:rPr>
              <a:t>Kanzaki et al. 2023, PNAS Nexus 2:pgad059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</a:rPr>
              <a:t>Baek et al. 2023, Earth’s Future 11</a:t>
            </a:r>
            <a:endParaRPr lang="en-US" sz="1250" dirty="0"/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4E5F"/>
                </a:solidFill>
              </a:rPr>
              <a:t>pH dependence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</a:rPr>
              <a:t>White &amp; Brantley 2003, Chem. Geol. 202:479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</a:rPr>
              <a:t>Brantley et al. 2008, Kinetics of Water-Rock Interaction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309360" y="1051560"/>
            <a:ext cx="53035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4E5F"/>
                </a:solidFill>
              </a:rPr>
              <a:t>Pedogenic-carbonate deduction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</a:rPr>
              <a:t>Renforth 2019, Nat. Commun. 10:1401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</a:rPr>
              <a:t>Reershemius &amp; Suhrhoff 2024, GCB 30:e17025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</a:rPr>
              <a:t>UNEP 1992 (aridity bands); Zomer et al. 2022, Sci. Data 9:409</a:t>
            </a:r>
            <a:endParaRPr lang="en-US" sz="1250" dirty="0"/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4E5F"/>
                </a:solidFill>
              </a:rPr>
              <a:t>Net CDR / lifecycle emissions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</a:rPr>
              <a:t>Eufrasio et al. 2022, Commun. Earth Environ. 3:106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</a:rPr>
              <a:t>EEA EMEP 2023; UK BEIS 2023; Nemecek &amp; Schnetzer 2011</a:t>
            </a:r>
            <a:endParaRPr lang="en-US" sz="1250" dirty="0"/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4E5F"/>
                </a:solidFill>
              </a:rPr>
              <a:t>Time phasing &amp; MRV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</a:rPr>
              <a:t>Kanzaki et al. 2023; Levy et al. 2024, ES&amp;T 58:17215</a:t>
            </a:r>
            <a:endParaRPr lang="en-US" sz="1250" dirty="0"/>
          </a:p>
          <a:p>
            <a:pPr marL="0" indent="0"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4E5F"/>
                </a:solidFill>
              </a:rPr>
              <a:t>Application rate &amp; targeting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</a:rPr>
              <a:t>Beerling 2020; Baek 2023; Kantola et al. 2023, GCB 29:7012</a:t>
            </a:r>
            <a:endParaRPr lang="en-US" sz="1250" dirty="0"/>
          </a:p>
          <a:p>
            <a:pPr marL="0" indent="0">
              <a:buNone/>
            </a:pPr>
            <a:r>
              <a:rPr lang="en-US" sz="1050" dirty="0">
                <a:solidFill>
                  <a:srgbClr val="3A3A3A"/>
                </a:solidFill>
              </a:rPr>
              <a:t>Aramburu Merlos et al. 2023, Geoderma 432:116421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solidFill>
            <a:srgbClr val="F4F6F5"/>
          </a:solidFill>
          <a:ln w="12700">
            <a:solidFill>
              <a:srgbClr val="D9E1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59893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A3A"/>
                </a:solidFill>
              </a:rPr>
              <a:t>Full catalogue (S1–S37) with DOIs: </a:t>
            </a:r>
            <a:r>
              <a:rPr lang="en-US" sz="1100" b="1" dirty="0">
                <a:solidFill>
                  <a:srgbClr val="2C7A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docs/erw-parameters.md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1267</TotalTime>
  <Words>1089</Words>
  <Application>Microsoft Macintosh PowerPoint</Application>
  <PresentationFormat>Widescreen</PresentationFormat>
  <Paragraphs>51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Consolas</vt:lpstr>
      <vt:lpstr>Georgia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Enhanced Rock Weathering: CDR Modelling</dc:title>
  <dc:subject>PptxGenJS Presentation</dc:subject>
  <dc:creator>ERW pipeline</dc:creator>
  <cp:lastModifiedBy>Jordan Chamberlin</cp:lastModifiedBy>
  <cp:revision>2</cp:revision>
  <dcterms:created xsi:type="dcterms:W3CDTF">2026-06-03T07:22:22Z</dcterms:created>
  <dcterms:modified xsi:type="dcterms:W3CDTF">2026-06-04T04:37:35Z</dcterms:modified>
</cp:coreProperties>
</file>